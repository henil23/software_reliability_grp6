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71" r:id="rId7"/>
    <p:sldId id="262" r:id="rId8"/>
    <p:sldId id="264" r:id="rId9"/>
    <p:sldId id="265" r:id="rId10"/>
    <p:sldId id="267" r:id="rId11"/>
    <p:sldId id="269" r:id="rId12"/>
    <p:sldId id="270"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46" d="100"/>
          <a:sy n="146" d="100"/>
        </p:scale>
        <p:origin x="59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276158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slide. Introduce yourself and the project title. This project simulates a TCP/IP-based client-server communication system between a ground station (client) and an aircraft (server). Briefly mention the key technologies: TCP/IP networking, state machine, structured packet protocol, and large data transfer. Estimated speaking time: 30 seconds.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introduces what the project is about. The system simulates a real-world aircraft communication scenario using TCP/IP sockets. The client (ground station) initiates the connection and issues commands; the server (aircraft) processes them through a finite state machine. Emphasize that this is not just a chat application — it uses structured binary packets, enforces protocol rules, and handles large data transfers exceeding 1 MB.</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architecture from left to right. The client (ground station) initiates all communication; the server (aircraft) responds. All traffic flows over a TCP/IP connection, guaranteeing reliable, ordered delivery. Highlight the server's three internal states (WAITING, CONNECTED, VERIFIED) shown as colored blocks — these enforce the protocol rules. Mention that the TCP layer handles retransmission and ordering, so the application layer only needs to handle packet-level logic.</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Describe what the client does step by step. The client first creates a TCP socket and calls connect() to reach the server. Before sending any commands, it must send a VERIFY packet — the server will reject all other commands until this is done. After ACK, the client can request sensor data (received and displayed with timestamps) or request the telemetry file. For large file transfer, the client receives data in chunks and reassembles them. Error handling covers rejection packets and unexpected disconnections.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on the server's state machine, which is the core enforcement mechanism. The server starts in WAITING. When a client connects, it transitions to CONNECTED but still rejects any commands other than VERIFY. Only after a valid VERIFY packet does it move to VERIFIED, unlocking sensor and file requests. If a command arrives in the wrong state, the server sends back a structured error packet rather than crashing or ignoring it. This is critical for protocol robustness.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299253-11FE-B3BA-58D7-1AC2244D06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D3A890-8F64-4B01-9C81-7316060A7D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049879-68D8-36CE-CF71-2A5DF24CF3B1}"/>
              </a:ext>
            </a:extLst>
          </p:cNvPr>
          <p:cNvSpPr>
            <a:spLocks noGrp="1"/>
          </p:cNvSpPr>
          <p:nvPr>
            <p:ph type="body" idx="1"/>
          </p:nvPr>
        </p:nvSpPr>
        <p:spPr/>
        <p:txBody>
          <a:bodyPr/>
          <a:lstStyle/>
          <a:p>
            <a:r>
              <a:rPr lang="en-US" dirty="0"/>
              <a:t>Focus on the server's state machine, which is the core enforcement mechanism. The server starts in WAITING. When a client connects, it transitions to CONNECTED but still rejects any commands other than VERIFY. Only after a valid VERIFY packet does it move to VERIFIED, unlocking sensor and file requests. If a command arrives in the wrong state, the server sends back a structured error packet rather than crashing or ignoring it. This is critical for protocol robustness.</a:t>
            </a:r>
          </a:p>
        </p:txBody>
      </p:sp>
      <p:sp>
        <p:nvSpPr>
          <p:cNvPr id="4" name="Slide Number Placeholder 3">
            <a:extLst>
              <a:ext uri="{FF2B5EF4-FFF2-40B4-BE49-F238E27FC236}">
                <a16:creationId xmlns:a16="http://schemas.microsoft.com/office/drawing/2014/main" id="{EF2F4A0C-3209-0C51-4E1D-0E95F4328577}"/>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20144421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binary packet structure. Every packet begins with a fixed-size header containing: packet type (identifies the message), timestamp (for synchronization and logging), payload size (so the receiver knows how many bytes to read), sensor count (for parsing multi-sensor payloads), and status code (OK or ERROR). The payload is dynamic — it contains sensor struct data for sensor responses, or raw binary data for file transfers. This consistent structure enables the server to serialize and the client to deserialize all packets using the same struct definition.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tests isolate individual components. On the client side, we test socket creation, packet serialization, chunked file reassembly, and error handling without needing a live server — using mock responses where necessary. On the server side, we test port binding, state machine initialization, that the server correctly rejects commands before verification, the VERIFY state transition, and correct sensor packet serialization. All 10 unit tests pass, confirming each module works in isolation before integration.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Integration tests verify the entire system working together — client and server running concurrently on localhost. Key scenarios include: the happy path (connect, verify, sensor, file), the rejection path (command before verify), invalid packet handling, state machine edge cases, file integrity validation, and graceful disconnect handling. All 7 tests pass. Highlight test case 3 especially — verifying that the server correctly rejects unverified commands is a core protocol requirement.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demonstrates debugging and problem-solving skills. Four significant issues were encountered. First, TCP's stream nature means recv() may return partial data — solved by looping until full payload is received. Second, a timing issue allowed commands to reach the server before ACK was processed — fixed with synchronous wait logic. Third, struct padding differences caused serialization bugs — fixed with packed attributes and byte-order conversions. Fourth, abrupt client disconnects crashed the server via SIGPIPE — handled by ignoring SIGPIPE and checking return values. Each solution reflects real-world network programming practices.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summarizing what was achieved. The system fully meets all stated requirements: TCP/IP communication, state-machine-enforced protocol, structured binary packets, large file transfer, and comprehensive testing. Mention the four highlighted metrics — TCP/IP connection, 3-state FSM, &gt;1 MB transfer, and 17 total tests all passing. Point out the future work row as evidence that the system is designed with extensibility in mind. Invite questions from the professor.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2D3C79-88CD-F178-B964-71CD10D3EB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EACE2B-6E7A-7FF2-EBAB-F39593B15B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3E5487-8A4B-83BD-BA3E-89565C38BDDD}"/>
              </a:ext>
            </a:extLst>
          </p:cNvPr>
          <p:cNvSpPr>
            <a:spLocks noGrp="1"/>
          </p:cNvSpPr>
          <p:nvPr>
            <p:ph type="body" idx="1"/>
          </p:nvPr>
        </p:nvSpPr>
        <p:spPr/>
        <p:txBody>
          <a:bodyPr/>
          <a:lstStyle/>
          <a:p>
            <a:r>
              <a:rPr lang="en-US" dirty="0"/>
              <a:t>Close by summarizing what was achieved. The system fully meets all stated requirements: TCP/IP communication, state-machine-enforced protocol, structured binary packets, large file transfer, and comprehensive testing. Mention the four highlighted metrics — TCP/IP connection, 3-state FSM, &gt;1 MB transfer, and 17 total tests all passing. Point out the future work row as evidence that the system is designed with extensibility in mind. Invite questions from the professor.</a:t>
            </a:r>
          </a:p>
        </p:txBody>
      </p:sp>
      <p:sp>
        <p:nvSpPr>
          <p:cNvPr id="4" name="Slide Number Placeholder 3">
            <a:extLst>
              <a:ext uri="{FF2B5EF4-FFF2-40B4-BE49-F238E27FC236}">
                <a16:creationId xmlns:a16="http://schemas.microsoft.com/office/drawing/2014/main" id="{EE239403-09AD-7B0E-293C-453B0B28FD11}"/>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42104453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conestoga.desire2learn.com/d2l/home/1519018"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3498DB"/>
          </a:solidFill>
          <a:ln w="12700">
            <a:solidFill>
              <a:srgbClr val="3498DB"/>
            </a:solidFill>
            <a:prstDash val="solid"/>
          </a:ln>
        </p:spPr>
        <p:txBody>
          <a:bodyPr/>
          <a:lstStyle/>
          <a:p>
            <a:endParaRPr lang="en-CA"/>
          </a:p>
        </p:txBody>
      </p:sp>
      <p:sp>
        <p:nvSpPr>
          <p:cNvPr id="3" name="Shape 1"/>
          <p:cNvSpPr/>
          <p:nvPr/>
        </p:nvSpPr>
        <p:spPr>
          <a:xfrm>
            <a:off x="5669280" y="-905419"/>
            <a:ext cx="4572000" cy="4572000"/>
          </a:xfrm>
          <a:prstGeom prst="ellipse">
            <a:avLst/>
          </a:prstGeom>
          <a:solidFill>
            <a:srgbClr val="1B4F72">
              <a:alpha val="25000"/>
            </a:srgbClr>
          </a:solidFill>
          <a:ln w="12700">
            <a:solidFill>
              <a:srgbClr val="1B4F72">
                <a:alpha val="25000"/>
              </a:srgbClr>
            </a:solidFill>
            <a:prstDash val="solid"/>
          </a:ln>
        </p:spPr>
        <p:txBody>
          <a:bodyPr/>
          <a:lstStyle/>
          <a:p>
            <a:endParaRPr lang="en-CA"/>
          </a:p>
        </p:txBody>
      </p:sp>
      <p:sp>
        <p:nvSpPr>
          <p:cNvPr id="4" name="Shape 2"/>
          <p:cNvSpPr/>
          <p:nvPr/>
        </p:nvSpPr>
        <p:spPr>
          <a:xfrm>
            <a:off x="6355080" y="2286000"/>
            <a:ext cx="3200400" cy="3200400"/>
          </a:xfrm>
          <a:prstGeom prst="ellipse">
            <a:avLst/>
          </a:prstGeom>
          <a:solidFill>
            <a:srgbClr val="3498DB">
              <a:alpha val="12000"/>
            </a:srgbClr>
          </a:solidFill>
          <a:ln w="12700">
            <a:solidFill>
              <a:srgbClr val="3498DB">
                <a:alpha val="12000"/>
              </a:srgbClr>
            </a:solidFill>
            <a:prstDash val="solid"/>
          </a:ln>
        </p:spPr>
        <p:txBody>
          <a:bodyPr/>
          <a:lstStyle/>
          <a:p>
            <a:endParaRPr lang="en-CA"/>
          </a:p>
        </p:txBody>
      </p:sp>
      <p:sp>
        <p:nvSpPr>
          <p:cNvPr id="6" name="Text 4"/>
          <p:cNvSpPr/>
          <p:nvPr/>
        </p:nvSpPr>
        <p:spPr>
          <a:xfrm>
            <a:off x="457200" y="914400"/>
            <a:ext cx="2560320" cy="320040"/>
          </a:xfrm>
          <a:prstGeom prst="rect">
            <a:avLst/>
          </a:prstGeom>
          <a:noFill/>
          <a:ln/>
        </p:spPr>
        <p:txBody>
          <a:bodyPr wrap="square" lIns="0" tIns="0" rIns="0" bIns="0" rtlCol="0" anchor="ctr"/>
          <a:lstStyle/>
          <a:p>
            <a:pPr marL="0" indent="0" algn="ctr">
              <a:buNone/>
            </a:pPr>
            <a:endParaRPr lang="en-US" sz="900" dirty="0"/>
          </a:p>
        </p:txBody>
      </p:sp>
      <p:sp>
        <p:nvSpPr>
          <p:cNvPr id="7" name="Text 5"/>
          <p:cNvSpPr/>
          <p:nvPr/>
        </p:nvSpPr>
        <p:spPr>
          <a:xfrm>
            <a:off x="457200" y="1417320"/>
            <a:ext cx="8229600" cy="777240"/>
          </a:xfrm>
          <a:prstGeom prst="rect">
            <a:avLst/>
          </a:prstGeom>
          <a:noFill/>
          <a:ln/>
        </p:spPr>
        <p:txBody>
          <a:bodyPr wrap="square" lIns="0" tIns="0" rIns="0" bIns="0" rtlCol="0" anchor="ctr"/>
          <a:lstStyle/>
          <a:p>
            <a:pPr marL="0" indent="0">
              <a:buNone/>
            </a:pPr>
            <a:r>
              <a:rPr lang="en-US" sz="4600" b="1" dirty="0">
                <a:solidFill>
                  <a:srgbClr val="FFFFFF"/>
                </a:solidFill>
                <a:latin typeface="Calibri" pitchFamily="34" charset="0"/>
                <a:ea typeface="Calibri" pitchFamily="34" charset="-122"/>
                <a:cs typeface="Calibri" pitchFamily="34" charset="-120"/>
              </a:rPr>
              <a:t>Aircraft Sensor </a:t>
            </a:r>
            <a:endParaRPr lang="en-US" sz="4600" dirty="0"/>
          </a:p>
        </p:txBody>
      </p:sp>
      <p:sp>
        <p:nvSpPr>
          <p:cNvPr id="8" name="Text 6"/>
          <p:cNvSpPr/>
          <p:nvPr/>
        </p:nvSpPr>
        <p:spPr>
          <a:xfrm>
            <a:off x="457200" y="2148840"/>
            <a:ext cx="8229600" cy="777240"/>
          </a:xfrm>
          <a:prstGeom prst="rect">
            <a:avLst/>
          </a:prstGeom>
          <a:noFill/>
          <a:ln/>
        </p:spPr>
        <p:txBody>
          <a:bodyPr wrap="square" lIns="0" tIns="0" rIns="0" bIns="0" rtlCol="0" anchor="ctr"/>
          <a:lstStyle/>
          <a:p>
            <a:pPr marL="0" indent="0">
              <a:buNone/>
            </a:pPr>
            <a:r>
              <a:rPr lang="en-US" sz="4600" b="1" dirty="0">
                <a:solidFill>
                  <a:srgbClr val="5DADE2"/>
                </a:solidFill>
                <a:latin typeface="Calibri" pitchFamily="34" charset="0"/>
                <a:ea typeface="Calibri" pitchFamily="34" charset="-122"/>
                <a:cs typeface="Calibri" pitchFamily="34" charset="-120"/>
              </a:rPr>
              <a:t>Data Monitoring System</a:t>
            </a:r>
            <a:endParaRPr lang="en-US" sz="4600" dirty="0"/>
          </a:p>
        </p:txBody>
      </p:sp>
      <p:sp>
        <p:nvSpPr>
          <p:cNvPr id="9" name="Text 7"/>
          <p:cNvSpPr/>
          <p:nvPr/>
        </p:nvSpPr>
        <p:spPr>
          <a:xfrm>
            <a:off x="457200" y="3017520"/>
            <a:ext cx="6400800" cy="411480"/>
          </a:xfrm>
          <a:prstGeom prst="rect">
            <a:avLst/>
          </a:prstGeom>
          <a:noFill/>
          <a:ln/>
        </p:spPr>
        <p:txBody>
          <a:bodyPr wrap="square" lIns="0" tIns="0" rIns="0" bIns="0" rtlCol="0" anchor="ctr"/>
          <a:lstStyle/>
          <a:p>
            <a:r>
              <a:rPr lang="en-US" sz="1800" i="1" dirty="0">
                <a:solidFill>
                  <a:srgbClr val="BDC3C7"/>
                </a:solidFill>
                <a:latin typeface="Calibri" pitchFamily="34" charset="0"/>
                <a:ea typeface="Calibri" pitchFamily="34" charset="-122"/>
                <a:cs typeface="Calibri" pitchFamily="34" charset="-120"/>
              </a:rPr>
              <a:t> </a:t>
            </a:r>
            <a:r>
              <a:rPr lang="en-CA" dirty="0">
                <a:solidFill>
                  <a:schemeClr val="bg1"/>
                </a:solidFill>
                <a:hlinkClick r:id="rId3" tooltip="CSCN74000-26W-Sec3-Software Safety and Reliability">
                  <a:extLst>
                    <a:ext uri="{A12FA001-AC4F-418D-AE19-62706E023703}">
                      <ahyp:hlinkClr xmlns:ahyp="http://schemas.microsoft.com/office/drawing/2018/hyperlinkcolor" val="tx"/>
                    </a:ext>
                  </a:extLst>
                </a:hlinkClick>
              </a:rPr>
              <a:t>CSCN74000</a:t>
            </a:r>
            <a:r>
              <a:rPr lang="en-CA" dirty="0">
                <a:solidFill>
                  <a:schemeClr val="bg1"/>
                </a:solidFill>
              </a:rPr>
              <a:t> – Software Safety and Reliability </a:t>
            </a:r>
            <a:endParaRPr lang="en-US" sz="1800" dirty="0">
              <a:solidFill>
                <a:schemeClr val="bg1"/>
              </a:solidFill>
            </a:endParaRPr>
          </a:p>
        </p:txBody>
      </p:sp>
      <p:sp>
        <p:nvSpPr>
          <p:cNvPr id="10" name="Shape 8"/>
          <p:cNvSpPr/>
          <p:nvPr/>
        </p:nvSpPr>
        <p:spPr>
          <a:xfrm>
            <a:off x="457200" y="3520440"/>
            <a:ext cx="4114800" cy="36576"/>
          </a:xfrm>
          <a:prstGeom prst="rect">
            <a:avLst/>
          </a:prstGeom>
          <a:solidFill>
            <a:srgbClr val="3498DB"/>
          </a:solidFill>
          <a:ln w="12700">
            <a:solidFill>
              <a:srgbClr val="3498DB"/>
            </a:solidFill>
            <a:prstDash val="solid"/>
          </a:ln>
        </p:spPr>
        <p:txBody>
          <a:bodyPr/>
          <a:lstStyle/>
          <a:p>
            <a:endParaRPr lang="en-CA"/>
          </a:p>
        </p:txBody>
      </p:sp>
      <p:sp>
        <p:nvSpPr>
          <p:cNvPr id="12" name="Text 10"/>
          <p:cNvSpPr/>
          <p:nvPr/>
        </p:nvSpPr>
        <p:spPr>
          <a:xfrm>
            <a:off x="457200" y="3703320"/>
            <a:ext cx="1828800" cy="320040"/>
          </a:xfrm>
          <a:prstGeom prst="rect">
            <a:avLst/>
          </a:prstGeom>
          <a:noFill/>
          <a:ln/>
        </p:spPr>
        <p:txBody>
          <a:bodyPr wrap="square" lIns="0" tIns="0" rIns="0" bIns="0" rtlCol="0" anchor="ctr"/>
          <a:lstStyle/>
          <a:p>
            <a:pPr marL="0" indent="0" algn="ctr">
              <a:buNone/>
            </a:pPr>
            <a:endParaRPr lang="en-US" sz="1000" dirty="0"/>
          </a:p>
        </p:txBody>
      </p:sp>
      <p:sp>
        <p:nvSpPr>
          <p:cNvPr id="14" name="Text 12"/>
          <p:cNvSpPr/>
          <p:nvPr/>
        </p:nvSpPr>
        <p:spPr>
          <a:xfrm>
            <a:off x="2468880" y="3703320"/>
            <a:ext cx="1828800" cy="320040"/>
          </a:xfrm>
          <a:prstGeom prst="rect">
            <a:avLst/>
          </a:prstGeom>
          <a:noFill/>
          <a:ln/>
        </p:spPr>
        <p:txBody>
          <a:bodyPr wrap="square" lIns="0" tIns="0" rIns="0" bIns="0" rtlCol="0" anchor="ctr"/>
          <a:lstStyle/>
          <a:p>
            <a:pPr marL="0" indent="0" algn="ctr">
              <a:buNone/>
            </a:pPr>
            <a:endParaRPr lang="en-US" sz="1000" dirty="0"/>
          </a:p>
        </p:txBody>
      </p:sp>
      <p:sp>
        <p:nvSpPr>
          <p:cNvPr id="16" name="Text 14"/>
          <p:cNvSpPr/>
          <p:nvPr/>
        </p:nvSpPr>
        <p:spPr>
          <a:xfrm>
            <a:off x="4480560" y="3703320"/>
            <a:ext cx="1828800" cy="320040"/>
          </a:xfrm>
          <a:prstGeom prst="rect">
            <a:avLst/>
          </a:prstGeom>
          <a:noFill/>
          <a:ln/>
        </p:spPr>
        <p:txBody>
          <a:bodyPr wrap="square" lIns="0" tIns="0" rIns="0" bIns="0" rtlCol="0" anchor="ctr"/>
          <a:lstStyle/>
          <a:p>
            <a:pPr marL="0" indent="0" algn="ctr">
              <a:buNone/>
            </a:pPr>
            <a:endParaRPr lang="en-US" sz="1000" dirty="0"/>
          </a:p>
        </p:txBody>
      </p:sp>
      <p:sp>
        <p:nvSpPr>
          <p:cNvPr id="18" name="Text 16"/>
          <p:cNvSpPr/>
          <p:nvPr/>
        </p:nvSpPr>
        <p:spPr>
          <a:xfrm>
            <a:off x="6492240" y="3703320"/>
            <a:ext cx="1828800" cy="320040"/>
          </a:xfrm>
          <a:prstGeom prst="rect">
            <a:avLst/>
          </a:prstGeom>
          <a:noFill/>
          <a:ln/>
        </p:spPr>
        <p:txBody>
          <a:bodyPr wrap="square" lIns="0" tIns="0" rIns="0" bIns="0" rtlCol="0" anchor="ctr"/>
          <a:lstStyle/>
          <a:p>
            <a:pPr marL="0" indent="0" algn="ctr">
              <a:buNone/>
            </a:pPr>
            <a:endParaRPr lang="en-US" sz="1000" dirty="0"/>
          </a:p>
        </p:txBody>
      </p:sp>
      <p:sp>
        <p:nvSpPr>
          <p:cNvPr id="19" name="Shape 17"/>
          <p:cNvSpPr/>
          <p:nvPr/>
        </p:nvSpPr>
        <p:spPr>
          <a:xfrm>
            <a:off x="0" y="4800600"/>
            <a:ext cx="9144000" cy="342900"/>
          </a:xfrm>
          <a:prstGeom prst="rect">
            <a:avLst/>
          </a:prstGeom>
          <a:solidFill>
            <a:srgbClr val="2C3E50"/>
          </a:solidFill>
          <a:ln w="12700">
            <a:solidFill>
              <a:srgbClr val="2C3E50"/>
            </a:solidFill>
            <a:prstDash val="solid"/>
          </a:ln>
        </p:spPr>
        <p:txBody>
          <a:bodyPr/>
          <a:lstStyle/>
          <a:p>
            <a:endParaRPr lang="en-CA"/>
          </a:p>
        </p:txBody>
      </p:sp>
      <p:sp>
        <p:nvSpPr>
          <p:cNvPr id="20" name="Text 18"/>
          <p:cNvSpPr/>
          <p:nvPr/>
        </p:nvSpPr>
        <p:spPr>
          <a:xfrm>
            <a:off x="457200" y="4800600"/>
            <a:ext cx="8229600" cy="342900"/>
          </a:xfrm>
          <a:prstGeom prst="rect">
            <a:avLst/>
          </a:prstGeom>
          <a:noFill/>
          <a:ln/>
        </p:spPr>
        <p:txBody>
          <a:bodyPr wrap="square" lIns="0" tIns="0" rIns="0" bIns="0" rtlCol="0" anchor="ctr"/>
          <a:lstStyle/>
          <a:p>
            <a:pPr marL="0" indent="0" algn="ctr">
              <a:buNone/>
            </a:pPr>
            <a:r>
              <a:rPr lang="en-US" sz="1000" dirty="0">
                <a:solidFill>
                  <a:schemeClr val="bg1"/>
                </a:solidFill>
              </a:rPr>
              <a:t>17 April 2026</a:t>
            </a:r>
          </a:p>
        </p:txBody>
      </p:sp>
      <p:sp>
        <p:nvSpPr>
          <p:cNvPr id="5" name="TextBox 4">
            <a:extLst>
              <a:ext uri="{FF2B5EF4-FFF2-40B4-BE49-F238E27FC236}">
                <a16:creationId xmlns:a16="http://schemas.microsoft.com/office/drawing/2014/main" id="{147633BC-8034-EF8A-B985-512F5EED97A0}"/>
              </a:ext>
            </a:extLst>
          </p:cNvPr>
          <p:cNvSpPr txBox="1"/>
          <p:nvPr/>
        </p:nvSpPr>
        <p:spPr>
          <a:xfrm>
            <a:off x="411479" y="3557016"/>
            <a:ext cx="2377441" cy="461665"/>
          </a:xfrm>
          <a:prstGeom prst="rect">
            <a:avLst/>
          </a:prstGeom>
          <a:noFill/>
        </p:spPr>
        <p:txBody>
          <a:bodyPr wrap="square" rtlCol="0">
            <a:spAutoFit/>
          </a:bodyPr>
          <a:lstStyle/>
          <a:p>
            <a:r>
              <a:rPr lang="en-US" sz="1200" dirty="0">
                <a:solidFill>
                  <a:schemeClr val="bg1"/>
                </a:solidFill>
              </a:rPr>
              <a:t>Group 6: Henil Patel, Kalp Mehta, Jainish Prajapati</a:t>
            </a:r>
            <a:endParaRPr lang="en-CA" sz="1200"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3498DB"/>
          </a:solidFill>
          <a:ln w="12700">
            <a:solidFill>
              <a:srgbClr val="3498DB"/>
            </a:solidFill>
            <a:prstDash val="solid"/>
          </a:ln>
        </p:spPr>
        <p:txBody>
          <a:bodyPr/>
          <a:lstStyle/>
          <a:p>
            <a:endParaRPr lang="en-CA"/>
          </a:p>
        </p:txBody>
      </p:sp>
      <p:sp>
        <p:nvSpPr>
          <p:cNvPr id="3" name="Text 1"/>
          <p:cNvSpPr/>
          <p:nvPr/>
        </p:nvSpPr>
        <p:spPr>
          <a:xfrm>
            <a:off x="457200" y="164592"/>
            <a:ext cx="8229600" cy="502920"/>
          </a:xfrm>
          <a:prstGeom prst="rect">
            <a:avLst/>
          </a:prstGeom>
          <a:noFill/>
          <a:ln/>
        </p:spPr>
        <p:txBody>
          <a:bodyPr wrap="square" lIns="0" tIns="0" rIns="0" bIns="0" rtlCol="0" anchor="ctr"/>
          <a:lstStyle/>
          <a:p>
            <a:pPr marL="0" indent="0" algn="l">
              <a:buNone/>
            </a:pPr>
            <a:r>
              <a:rPr lang="en-US" sz="2600" b="1" dirty="0">
                <a:solidFill>
                  <a:srgbClr val="FFFFFF"/>
                </a:solidFill>
                <a:latin typeface="Calibri" pitchFamily="34" charset="0"/>
                <a:ea typeface="Calibri" pitchFamily="34" charset="-122"/>
                <a:cs typeface="Calibri" pitchFamily="34" charset="-120"/>
              </a:rPr>
              <a:t>Project Overview</a:t>
            </a:r>
            <a:endParaRPr lang="en-US" sz="2600" dirty="0"/>
          </a:p>
        </p:txBody>
      </p:sp>
      <p:sp>
        <p:nvSpPr>
          <p:cNvPr id="4" name="Shape 2"/>
          <p:cNvSpPr/>
          <p:nvPr/>
        </p:nvSpPr>
        <p:spPr>
          <a:xfrm>
            <a:off x="457200" y="713232"/>
            <a:ext cx="8229600" cy="22860"/>
          </a:xfrm>
          <a:prstGeom prst="rect">
            <a:avLst/>
          </a:prstGeom>
          <a:solidFill>
            <a:srgbClr val="3498DB"/>
          </a:solidFill>
          <a:ln w="12700">
            <a:solidFill>
              <a:srgbClr val="3498DB"/>
            </a:solidFill>
            <a:prstDash val="solid"/>
          </a:ln>
        </p:spPr>
        <p:txBody>
          <a:bodyPr/>
          <a:lstStyle/>
          <a:p>
            <a:endParaRPr lang="en-CA"/>
          </a:p>
        </p:txBody>
      </p:sp>
      <p:sp>
        <p:nvSpPr>
          <p:cNvPr id="5" name="Shape 3"/>
          <p:cNvSpPr/>
          <p:nvPr/>
        </p:nvSpPr>
        <p:spPr>
          <a:xfrm>
            <a:off x="365760" y="960120"/>
            <a:ext cx="5120640" cy="1097280"/>
          </a:xfrm>
          <a:prstGeom prst="rect">
            <a:avLst/>
          </a:prstGeom>
          <a:solidFill>
            <a:srgbClr val="2C3E50"/>
          </a:solidFill>
          <a:ln w="12700">
            <a:solidFill>
              <a:srgbClr val="3498DB"/>
            </a:solidFill>
            <a:prstDash val="solid"/>
          </a:ln>
        </p:spPr>
        <p:txBody>
          <a:bodyPr/>
          <a:lstStyle/>
          <a:p>
            <a:endParaRPr lang="en-CA"/>
          </a:p>
        </p:txBody>
      </p:sp>
      <p:sp>
        <p:nvSpPr>
          <p:cNvPr id="6" name="Shape 4"/>
          <p:cNvSpPr/>
          <p:nvPr/>
        </p:nvSpPr>
        <p:spPr>
          <a:xfrm>
            <a:off x="365760" y="960120"/>
            <a:ext cx="64008" cy="1097280"/>
          </a:xfrm>
          <a:prstGeom prst="rect">
            <a:avLst/>
          </a:prstGeom>
          <a:solidFill>
            <a:srgbClr val="3498DB"/>
          </a:solidFill>
          <a:ln w="12700">
            <a:solidFill>
              <a:srgbClr val="3498DB"/>
            </a:solidFill>
            <a:prstDash val="solid"/>
          </a:ln>
        </p:spPr>
        <p:txBody>
          <a:bodyPr/>
          <a:lstStyle/>
          <a:p>
            <a:endParaRPr lang="en-CA"/>
          </a:p>
        </p:txBody>
      </p:sp>
      <p:sp>
        <p:nvSpPr>
          <p:cNvPr id="7" name="Text 5"/>
          <p:cNvSpPr/>
          <p:nvPr/>
        </p:nvSpPr>
        <p:spPr>
          <a:xfrm>
            <a:off x="548640" y="1033272"/>
            <a:ext cx="4754880" cy="320040"/>
          </a:xfrm>
          <a:prstGeom prst="rect">
            <a:avLst/>
          </a:prstGeom>
          <a:noFill/>
          <a:ln/>
        </p:spPr>
        <p:txBody>
          <a:bodyPr wrap="square" lIns="0" tIns="0" rIns="0" bIns="0" rtlCol="0" anchor="ctr"/>
          <a:lstStyle/>
          <a:p>
            <a:pPr marL="0" indent="0">
              <a:buNone/>
            </a:pPr>
            <a:r>
              <a:rPr lang="en-US" sz="1300" b="1" dirty="0">
                <a:solidFill>
                  <a:srgbClr val="3498DB"/>
                </a:solidFill>
                <a:latin typeface="Calibri" pitchFamily="34" charset="0"/>
                <a:ea typeface="Calibri" pitchFamily="34" charset="-122"/>
                <a:cs typeface="Calibri" pitchFamily="34" charset="-120"/>
              </a:rPr>
              <a:t>Objective</a:t>
            </a:r>
            <a:endParaRPr lang="en-US" sz="1300" dirty="0"/>
          </a:p>
        </p:txBody>
      </p:sp>
      <p:sp>
        <p:nvSpPr>
          <p:cNvPr id="8" name="Text 6"/>
          <p:cNvSpPr/>
          <p:nvPr/>
        </p:nvSpPr>
        <p:spPr>
          <a:xfrm>
            <a:off x="548640" y="1344168"/>
            <a:ext cx="4754880" cy="594360"/>
          </a:xfrm>
          <a:prstGeom prst="rect">
            <a:avLst/>
          </a:prstGeom>
          <a:noFill/>
          <a:ln/>
        </p:spPr>
        <p:txBody>
          <a:bodyPr wrap="square" lIns="0" tIns="0" rIns="0" bIns="0" rtlCol="0" anchor="ctr"/>
          <a:lstStyle/>
          <a:p>
            <a:pPr marL="0" indent="0">
              <a:buNone/>
            </a:pPr>
            <a:r>
              <a:rPr lang="en-US" sz="1200" dirty="0">
                <a:solidFill>
                  <a:srgbClr val="ECF0F1"/>
                </a:solidFill>
                <a:latin typeface="Calibri" pitchFamily="34" charset="0"/>
                <a:ea typeface="Calibri" pitchFamily="34" charset="-122"/>
                <a:cs typeface="Calibri" pitchFamily="34" charset="-120"/>
              </a:rPr>
              <a:t>Simulate TCP/IP communication between a ground station client and aircraft sensors (as server)</a:t>
            </a:r>
            <a:endParaRPr lang="en-US" sz="1200" dirty="0"/>
          </a:p>
        </p:txBody>
      </p:sp>
      <p:sp>
        <p:nvSpPr>
          <p:cNvPr id="9" name="Shape 7"/>
          <p:cNvSpPr/>
          <p:nvPr/>
        </p:nvSpPr>
        <p:spPr>
          <a:xfrm>
            <a:off x="365760" y="2286000"/>
            <a:ext cx="5120640" cy="1097280"/>
          </a:xfrm>
          <a:prstGeom prst="rect">
            <a:avLst/>
          </a:prstGeom>
          <a:solidFill>
            <a:srgbClr val="2C3E50"/>
          </a:solidFill>
          <a:ln w="12700">
            <a:solidFill>
              <a:srgbClr val="1ABC9C"/>
            </a:solidFill>
            <a:prstDash val="solid"/>
          </a:ln>
        </p:spPr>
        <p:txBody>
          <a:bodyPr/>
          <a:lstStyle/>
          <a:p>
            <a:endParaRPr lang="en-CA"/>
          </a:p>
        </p:txBody>
      </p:sp>
      <p:sp>
        <p:nvSpPr>
          <p:cNvPr id="10" name="Shape 8"/>
          <p:cNvSpPr/>
          <p:nvPr/>
        </p:nvSpPr>
        <p:spPr>
          <a:xfrm>
            <a:off x="365760" y="2286000"/>
            <a:ext cx="64008" cy="1097280"/>
          </a:xfrm>
          <a:prstGeom prst="rect">
            <a:avLst/>
          </a:prstGeom>
          <a:solidFill>
            <a:srgbClr val="1ABC9C"/>
          </a:solidFill>
          <a:ln w="12700">
            <a:solidFill>
              <a:srgbClr val="1ABC9C"/>
            </a:solidFill>
            <a:prstDash val="solid"/>
          </a:ln>
        </p:spPr>
        <p:txBody>
          <a:bodyPr/>
          <a:lstStyle/>
          <a:p>
            <a:endParaRPr lang="en-CA"/>
          </a:p>
        </p:txBody>
      </p:sp>
      <p:sp>
        <p:nvSpPr>
          <p:cNvPr id="11" name="Text 9"/>
          <p:cNvSpPr/>
          <p:nvPr/>
        </p:nvSpPr>
        <p:spPr>
          <a:xfrm>
            <a:off x="548640" y="2359152"/>
            <a:ext cx="4754880" cy="320040"/>
          </a:xfrm>
          <a:prstGeom prst="rect">
            <a:avLst/>
          </a:prstGeom>
          <a:noFill/>
          <a:ln/>
        </p:spPr>
        <p:txBody>
          <a:bodyPr wrap="square" lIns="0" tIns="0" rIns="0" bIns="0" rtlCol="0" anchor="ctr"/>
          <a:lstStyle/>
          <a:p>
            <a:pPr marL="0" indent="0">
              <a:buNone/>
            </a:pPr>
            <a:r>
              <a:rPr lang="en-US" sz="1300" b="1" dirty="0">
                <a:solidFill>
                  <a:srgbClr val="1ABC9C"/>
                </a:solidFill>
                <a:latin typeface="Calibri" pitchFamily="34" charset="0"/>
                <a:ea typeface="Calibri" pitchFamily="34" charset="-122"/>
                <a:cs typeface="Calibri" pitchFamily="34" charset="-120"/>
              </a:rPr>
              <a:t>Core Protocol</a:t>
            </a:r>
            <a:endParaRPr lang="en-US" sz="1300" dirty="0"/>
          </a:p>
        </p:txBody>
      </p:sp>
      <p:sp>
        <p:nvSpPr>
          <p:cNvPr id="12" name="Text 10"/>
          <p:cNvSpPr/>
          <p:nvPr/>
        </p:nvSpPr>
        <p:spPr>
          <a:xfrm>
            <a:off x="548640" y="2670048"/>
            <a:ext cx="4754880" cy="594360"/>
          </a:xfrm>
          <a:prstGeom prst="rect">
            <a:avLst/>
          </a:prstGeom>
          <a:noFill/>
          <a:ln/>
        </p:spPr>
        <p:txBody>
          <a:bodyPr wrap="square" lIns="0" tIns="0" rIns="0" bIns="0" rtlCol="0" anchor="ctr"/>
          <a:lstStyle/>
          <a:p>
            <a:pPr marL="0" indent="0">
              <a:buNone/>
            </a:pPr>
            <a:r>
              <a:rPr lang="en-US" sz="1200" dirty="0">
                <a:solidFill>
                  <a:srgbClr val="ECF0F1"/>
                </a:solidFill>
                <a:latin typeface="Calibri" pitchFamily="34" charset="0"/>
                <a:ea typeface="Calibri" pitchFamily="34" charset="-122"/>
                <a:cs typeface="Calibri" pitchFamily="34" charset="-120"/>
              </a:rPr>
              <a:t>Structured packet exchange with verification, sensor data, and telemetry file transfer</a:t>
            </a:r>
            <a:endParaRPr lang="en-US" sz="1200" dirty="0"/>
          </a:p>
        </p:txBody>
      </p:sp>
      <p:sp>
        <p:nvSpPr>
          <p:cNvPr id="13" name="Shape 11"/>
          <p:cNvSpPr/>
          <p:nvPr/>
        </p:nvSpPr>
        <p:spPr>
          <a:xfrm>
            <a:off x="365760" y="3611880"/>
            <a:ext cx="5120640" cy="1097280"/>
          </a:xfrm>
          <a:prstGeom prst="rect">
            <a:avLst/>
          </a:prstGeom>
          <a:solidFill>
            <a:srgbClr val="2C3E50"/>
          </a:solidFill>
          <a:ln w="12700">
            <a:solidFill>
              <a:srgbClr val="F39C12"/>
            </a:solidFill>
            <a:prstDash val="solid"/>
          </a:ln>
        </p:spPr>
        <p:txBody>
          <a:bodyPr/>
          <a:lstStyle/>
          <a:p>
            <a:endParaRPr lang="en-CA"/>
          </a:p>
        </p:txBody>
      </p:sp>
      <p:sp>
        <p:nvSpPr>
          <p:cNvPr id="14" name="Shape 12"/>
          <p:cNvSpPr/>
          <p:nvPr/>
        </p:nvSpPr>
        <p:spPr>
          <a:xfrm>
            <a:off x="365760" y="3611880"/>
            <a:ext cx="64008" cy="1097280"/>
          </a:xfrm>
          <a:prstGeom prst="rect">
            <a:avLst/>
          </a:prstGeom>
          <a:solidFill>
            <a:srgbClr val="F39C12"/>
          </a:solidFill>
          <a:ln w="12700">
            <a:solidFill>
              <a:srgbClr val="F39C12"/>
            </a:solidFill>
            <a:prstDash val="solid"/>
          </a:ln>
        </p:spPr>
        <p:txBody>
          <a:bodyPr/>
          <a:lstStyle/>
          <a:p>
            <a:endParaRPr lang="en-CA"/>
          </a:p>
        </p:txBody>
      </p:sp>
      <p:sp>
        <p:nvSpPr>
          <p:cNvPr id="15" name="Text 13"/>
          <p:cNvSpPr/>
          <p:nvPr/>
        </p:nvSpPr>
        <p:spPr>
          <a:xfrm>
            <a:off x="548640" y="3685032"/>
            <a:ext cx="4754880" cy="320040"/>
          </a:xfrm>
          <a:prstGeom prst="rect">
            <a:avLst/>
          </a:prstGeom>
          <a:noFill/>
          <a:ln/>
        </p:spPr>
        <p:txBody>
          <a:bodyPr wrap="square" lIns="0" tIns="0" rIns="0" bIns="0" rtlCol="0" anchor="ctr"/>
          <a:lstStyle/>
          <a:p>
            <a:pPr marL="0" indent="0">
              <a:buNone/>
            </a:pPr>
            <a:r>
              <a:rPr lang="en-US" sz="1300" b="1" dirty="0">
                <a:solidFill>
                  <a:srgbClr val="F39C12"/>
                </a:solidFill>
                <a:latin typeface="Calibri" pitchFamily="34" charset="0"/>
                <a:ea typeface="Calibri" pitchFamily="34" charset="-122"/>
                <a:cs typeface="Calibri" pitchFamily="34" charset="-120"/>
              </a:rPr>
              <a:t>Key Constraint</a:t>
            </a:r>
            <a:endParaRPr lang="en-US" sz="1300" dirty="0"/>
          </a:p>
        </p:txBody>
      </p:sp>
      <p:sp>
        <p:nvSpPr>
          <p:cNvPr id="16" name="Text 14"/>
          <p:cNvSpPr/>
          <p:nvPr/>
        </p:nvSpPr>
        <p:spPr>
          <a:xfrm>
            <a:off x="548640" y="3995928"/>
            <a:ext cx="4754880" cy="594360"/>
          </a:xfrm>
          <a:prstGeom prst="rect">
            <a:avLst/>
          </a:prstGeom>
          <a:noFill/>
          <a:ln/>
        </p:spPr>
        <p:txBody>
          <a:bodyPr wrap="square" lIns="0" tIns="0" rIns="0" bIns="0" rtlCol="0" anchor="ctr"/>
          <a:lstStyle/>
          <a:p>
            <a:pPr marL="0" indent="0">
              <a:buNone/>
            </a:pPr>
            <a:r>
              <a:rPr lang="en-US" sz="1200" dirty="0">
                <a:solidFill>
                  <a:srgbClr val="ECF0F1"/>
                </a:solidFill>
                <a:latin typeface="Calibri" pitchFamily="34" charset="0"/>
                <a:ea typeface="Calibri" pitchFamily="34" charset="-122"/>
                <a:cs typeface="Calibri" pitchFamily="34" charset="-120"/>
              </a:rPr>
              <a:t>Server enforces a state machine — commands only accepted after client verification</a:t>
            </a:r>
            <a:endParaRPr lang="en-US" sz="1200" dirty="0"/>
          </a:p>
        </p:txBody>
      </p:sp>
      <p:sp>
        <p:nvSpPr>
          <p:cNvPr id="17" name="Shape 15"/>
          <p:cNvSpPr/>
          <p:nvPr/>
        </p:nvSpPr>
        <p:spPr>
          <a:xfrm>
            <a:off x="5669280" y="960120"/>
            <a:ext cx="3108960" cy="3977640"/>
          </a:xfrm>
          <a:prstGeom prst="rect">
            <a:avLst/>
          </a:prstGeom>
          <a:solidFill>
            <a:srgbClr val="2C3E50"/>
          </a:solidFill>
          <a:ln w="12700">
            <a:solidFill>
              <a:srgbClr val="1B4F72"/>
            </a:solidFill>
            <a:prstDash val="solid"/>
          </a:ln>
        </p:spPr>
        <p:txBody>
          <a:bodyPr/>
          <a:lstStyle/>
          <a:p>
            <a:endParaRPr lang="en-CA" dirty="0"/>
          </a:p>
        </p:txBody>
      </p:sp>
      <p:sp>
        <p:nvSpPr>
          <p:cNvPr id="18" name="Text 16"/>
          <p:cNvSpPr/>
          <p:nvPr/>
        </p:nvSpPr>
        <p:spPr>
          <a:xfrm>
            <a:off x="5760720" y="1051560"/>
            <a:ext cx="2926080" cy="365760"/>
          </a:xfrm>
          <a:prstGeom prst="rect">
            <a:avLst/>
          </a:prstGeom>
          <a:noFill/>
          <a:ln/>
        </p:spPr>
        <p:txBody>
          <a:bodyPr wrap="square" lIns="0" tIns="0" rIns="0" bIns="0" rtlCol="0" anchor="ctr"/>
          <a:lstStyle/>
          <a:p>
            <a:pPr marL="0" indent="0" algn="ctr">
              <a:buNone/>
            </a:pPr>
            <a:r>
              <a:rPr lang="en-US" sz="1300" b="1" dirty="0">
                <a:solidFill>
                  <a:srgbClr val="5DADE2"/>
                </a:solidFill>
                <a:latin typeface="Calibri" pitchFamily="34" charset="0"/>
                <a:ea typeface="Calibri" pitchFamily="34" charset="-122"/>
                <a:cs typeface="Calibri" pitchFamily="34" charset="-120"/>
              </a:rPr>
              <a:t>Technologies Used</a:t>
            </a:r>
            <a:endParaRPr lang="en-US" sz="1300" dirty="0"/>
          </a:p>
        </p:txBody>
      </p:sp>
      <p:sp>
        <p:nvSpPr>
          <p:cNvPr id="19" name="Text 17"/>
          <p:cNvSpPr/>
          <p:nvPr/>
        </p:nvSpPr>
        <p:spPr>
          <a:xfrm>
            <a:off x="5760720" y="1508760"/>
            <a:ext cx="1188720" cy="411480"/>
          </a:xfrm>
          <a:prstGeom prst="rect">
            <a:avLst/>
          </a:prstGeom>
          <a:noFill/>
          <a:ln/>
        </p:spPr>
        <p:txBody>
          <a:bodyPr wrap="square" lIns="0" tIns="0" rIns="0" bIns="0" rtlCol="0" anchor="ctr"/>
          <a:lstStyle/>
          <a:p>
            <a:pPr marL="0" indent="0">
              <a:buNone/>
            </a:pPr>
            <a:r>
              <a:rPr lang="en-US" sz="1100" b="1" dirty="0">
                <a:solidFill>
                  <a:srgbClr val="BDC3C7"/>
                </a:solidFill>
                <a:latin typeface="Calibri" pitchFamily="34" charset="0"/>
                <a:ea typeface="Calibri" pitchFamily="34" charset="-122"/>
                <a:cs typeface="Calibri" pitchFamily="34" charset="-120"/>
              </a:rPr>
              <a:t>Language:</a:t>
            </a:r>
            <a:endParaRPr lang="en-US" sz="1100" dirty="0"/>
          </a:p>
        </p:txBody>
      </p:sp>
      <p:sp>
        <p:nvSpPr>
          <p:cNvPr id="20" name="Text 18"/>
          <p:cNvSpPr/>
          <p:nvPr/>
        </p:nvSpPr>
        <p:spPr>
          <a:xfrm>
            <a:off x="6858000" y="1508760"/>
            <a:ext cx="1783080" cy="41148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C++</a:t>
            </a:r>
            <a:endParaRPr lang="en-US" sz="1100" dirty="0"/>
          </a:p>
        </p:txBody>
      </p:sp>
      <p:sp>
        <p:nvSpPr>
          <p:cNvPr id="21" name="Text 19"/>
          <p:cNvSpPr/>
          <p:nvPr/>
        </p:nvSpPr>
        <p:spPr>
          <a:xfrm>
            <a:off x="5760720" y="2057400"/>
            <a:ext cx="1188720" cy="411480"/>
          </a:xfrm>
          <a:prstGeom prst="rect">
            <a:avLst/>
          </a:prstGeom>
          <a:noFill/>
          <a:ln/>
        </p:spPr>
        <p:txBody>
          <a:bodyPr wrap="square" lIns="0" tIns="0" rIns="0" bIns="0" rtlCol="0" anchor="ctr"/>
          <a:lstStyle/>
          <a:p>
            <a:pPr marL="0" indent="0">
              <a:buNone/>
            </a:pPr>
            <a:r>
              <a:rPr lang="en-US" sz="1100" b="1" dirty="0">
                <a:solidFill>
                  <a:srgbClr val="BDC3C7"/>
                </a:solidFill>
                <a:latin typeface="Calibri" pitchFamily="34" charset="0"/>
                <a:ea typeface="Calibri" pitchFamily="34" charset="-122"/>
                <a:cs typeface="Calibri" pitchFamily="34" charset="-120"/>
              </a:rPr>
              <a:t>Transport:</a:t>
            </a:r>
            <a:endParaRPr lang="en-US" sz="1100" dirty="0"/>
          </a:p>
        </p:txBody>
      </p:sp>
      <p:sp>
        <p:nvSpPr>
          <p:cNvPr id="22" name="Text 20"/>
          <p:cNvSpPr/>
          <p:nvPr/>
        </p:nvSpPr>
        <p:spPr>
          <a:xfrm>
            <a:off x="6858000" y="2057400"/>
            <a:ext cx="1783080" cy="41148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TCP/IP</a:t>
            </a:r>
            <a:endParaRPr lang="en-US" sz="1100" dirty="0"/>
          </a:p>
        </p:txBody>
      </p:sp>
      <p:sp>
        <p:nvSpPr>
          <p:cNvPr id="23" name="Text 21"/>
          <p:cNvSpPr/>
          <p:nvPr/>
        </p:nvSpPr>
        <p:spPr>
          <a:xfrm>
            <a:off x="5760720" y="2606040"/>
            <a:ext cx="1188720" cy="411480"/>
          </a:xfrm>
          <a:prstGeom prst="rect">
            <a:avLst/>
          </a:prstGeom>
          <a:noFill/>
          <a:ln/>
        </p:spPr>
        <p:txBody>
          <a:bodyPr wrap="square" lIns="0" tIns="0" rIns="0" bIns="0" rtlCol="0" anchor="ctr"/>
          <a:lstStyle/>
          <a:p>
            <a:pPr marL="0" indent="0">
              <a:buNone/>
            </a:pPr>
            <a:r>
              <a:rPr lang="en-US" sz="1100" b="1" dirty="0">
                <a:solidFill>
                  <a:srgbClr val="BDC3C7"/>
                </a:solidFill>
                <a:latin typeface="Calibri" pitchFamily="34" charset="0"/>
                <a:ea typeface="Calibri" pitchFamily="34" charset="-122"/>
                <a:cs typeface="Calibri" pitchFamily="34" charset="-120"/>
              </a:rPr>
              <a:t>Paradigm:</a:t>
            </a:r>
            <a:endParaRPr lang="en-US" sz="1100" dirty="0"/>
          </a:p>
        </p:txBody>
      </p:sp>
      <p:sp>
        <p:nvSpPr>
          <p:cNvPr id="24" name="Text 22"/>
          <p:cNvSpPr/>
          <p:nvPr/>
        </p:nvSpPr>
        <p:spPr>
          <a:xfrm>
            <a:off x="6858000" y="2606040"/>
            <a:ext cx="1783080" cy="411480"/>
          </a:xfrm>
          <a:prstGeom prst="rect">
            <a:avLst/>
          </a:prstGeom>
          <a:noFill/>
          <a:ln/>
        </p:spPr>
        <p:txBody>
          <a:bodyPr wrap="square" lIns="0" tIns="0" rIns="0" bIns="0" rtlCol="0" anchor="ctr"/>
          <a:lstStyle/>
          <a:p>
            <a:r>
              <a:rPr lang="en-US" sz="1100" dirty="0">
                <a:solidFill>
                  <a:srgbClr val="FFFFFF"/>
                </a:solidFill>
                <a:latin typeface="Calibri" pitchFamily="34" charset="0"/>
                <a:ea typeface="Calibri" pitchFamily="34" charset="-122"/>
                <a:cs typeface="Calibri" pitchFamily="34" charset="-120"/>
              </a:rPr>
              <a:t>Ground Station(Client-Server)</a:t>
            </a:r>
            <a:endParaRPr lang="en-US" sz="1100" dirty="0"/>
          </a:p>
        </p:txBody>
      </p:sp>
      <p:sp>
        <p:nvSpPr>
          <p:cNvPr id="25" name="Text 23"/>
          <p:cNvSpPr/>
          <p:nvPr/>
        </p:nvSpPr>
        <p:spPr>
          <a:xfrm>
            <a:off x="5760720" y="3154680"/>
            <a:ext cx="1188720" cy="411480"/>
          </a:xfrm>
          <a:prstGeom prst="rect">
            <a:avLst/>
          </a:prstGeom>
          <a:noFill/>
          <a:ln/>
        </p:spPr>
        <p:txBody>
          <a:bodyPr wrap="square" lIns="0" tIns="0" rIns="0" bIns="0" rtlCol="0" anchor="ctr"/>
          <a:lstStyle/>
          <a:p>
            <a:pPr marL="0" indent="0">
              <a:buNone/>
            </a:pPr>
            <a:r>
              <a:rPr lang="en-US" sz="1100" b="1" dirty="0">
                <a:solidFill>
                  <a:srgbClr val="BDC3C7"/>
                </a:solidFill>
                <a:latin typeface="Calibri" pitchFamily="34" charset="0"/>
                <a:ea typeface="Calibri" pitchFamily="34" charset="-122"/>
                <a:cs typeface="Calibri" pitchFamily="34" charset="-120"/>
              </a:rPr>
              <a:t>Control:</a:t>
            </a:r>
            <a:endParaRPr lang="en-US" sz="1100" dirty="0"/>
          </a:p>
        </p:txBody>
      </p:sp>
      <p:sp>
        <p:nvSpPr>
          <p:cNvPr id="26" name="Text 24"/>
          <p:cNvSpPr/>
          <p:nvPr/>
        </p:nvSpPr>
        <p:spPr>
          <a:xfrm>
            <a:off x="6858000" y="3154680"/>
            <a:ext cx="1783080" cy="411480"/>
          </a:xfrm>
          <a:prstGeom prst="rect">
            <a:avLst/>
          </a:prstGeom>
          <a:noFill/>
          <a:ln/>
        </p:spPr>
        <p:txBody>
          <a:bodyPr wrap="square" lIns="0" tIns="0" rIns="0" bIns="0" rtlCol="0" anchor="ctr"/>
          <a:lstStyle/>
          <a:p>
            <a:pPr marL="0" indent="0">
              <a:buNone/>
            </a:pPr>
            <a:r>
              <a:rPr lang="en-US" sz="1100" dirty="0">
                <a:solidFill>
                  <a:schemeClr val="bg1"/>
                </a:solidFill>
              </a:rPr>
              <a:t>Aircraft (Server State Machine)</a:t>
            </a:r>
          </a:p>
        </p:txBody>
      </p:sp>
      <p:sp>
        <p:nvSpPr>
          <p:cNvPr id="27" name="Text 25"/>
          <p:cNvSpPr/>
          <p:nvPr/>
        </p:nvSpPr>
        <p:spPr>
          <a:xfrm>
            <a:off x="5760720" y="3703320"/>
            <a:ext cx="1188720" cy="411480"/>
          </a:xfrm>
          <a:prstGeom prst="rect">
            <a:avLst/>
          </a:prstGeom>
          <a:noFill/>
          <a:ln/>
        </p:spPr>
        <p:txBody>
          <a:bodyPr wrap="square" lIns="0" tIns="0" rIns="0" bIns="0" rtlCol="0" anchor="ctr"/>
          <a:lstStyle/>
          <a:p>
            <a:pPr marL="0" indent="0">
              <a:buNone/>
            </a:pPr>
            <a:r>
              <a:rPr lang="en-US" sz="1100" b="1" dirty="0">
                <a:solidFill>
                  <a:srgbClr val="BDC3C7"/>
                </a:solidFill>
                <a:latin typeface="Calibri" pitchFamily="34" charset="0"/>
                <a:ea typeface="Calibri" pitchFamily="34" charset="-122"/>
                <a:cs typeface="Calibri" pitchFamily="34" charset="-120"/>
              </a:rPr>
              <a:t>Data:</a:t>
            </a:r>
            <a:endParaRPr lang="en-US" sz="1100" dirty="0"/>
          </a:p>
        </p:txBody>
      </p:sp>
      <p:sp>
        <p:nvSpPr>
          <p:cNvPr id="28" name="Text 26"/>
          <p:cNvSpPr/>
          <p:nvPr/>
        </p:nvSpPr>
        <p:spPr>
          <a:xfrm>
            <a:off x="6858000" y="3703320"/>
            <a:ext cx="1783080" cy="41148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Binary Packet Structs</a:t>
            </a:r>
            <a:endParaRPr lang="en-US" sz="1100" dirty="0"/>
          </a:p>
        </p:txBody>
      </p:sp>
      <p:sp>
        <p:nvSpPr>
          <p:cNvPr id="29" name="Text 27"/>
          <p:cNvSpPr/>
          <p:nvPr/>
        </p:nvSpPr>
        <p:spPr>
          <a:xfrm>
            <a:off x="5760720" y="4251960"/>
            <a:ext cx="1188720" cy="411480"/>
          </a:xfrm>
          <a:prstGeom prst="rect">
            <a:avLst/>
          </a:prstGeom>
          <a:noFill/>
          <a:ln/>
        </p:spPr>
        <p:txBody>
          <a:bodyPr wrap="square" lIns="0" tIns="0" rIns="0" bIns="0" rtlCol="0" anchor="ctr"/>
          <a:lstStyle/>
          <a:p>
            <a:pPr marL="0" indent="0">
              <a:buNone/>
            </a:pPr>
            <a:r>
              <a:rPr lang="en-US" sz="1100" b="1" dirty="0">
                <a:solidFill>
                  <a:srgbClr val="BDC3C7"/>
                </a:solidFill>
                <a:latin typeface="Calibri" pitchFamily="34" charset="0"/>
                <a:ea typeface="Calibri" pitchFamily="34" charset="-122"/>
                <a:cs typeface="Calibri" pitchFamily="34" charset="-120"/>
              </a:rPr>
              <a:t>Transfer:</a:t>
            </a:r>
            <a:endParaRPr lang="en-US" sz="1100" dirty="0"/>
          </a:p>
        </p:txBody>
      </p:sp>
      <p:sp>
        <p:nvSpPr>
          <p:cNvPr id="30" name="Text 28"/>
          <p:cNvSpPr/>
          <p:nvPr/>
        </p:nvSpPr>
        <p:spPr>
          <a:xfrm>
            <a:off x="6858000" y="4251960"/>
            <a:ext cx="1783080" cy="41148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&gt; 1 MB Telemetry File</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ABC9C"/>
          </a:solidFill>
          <a:ln w="12700">
            <a:solidFill>
              <a:srgbClr val="1ABC9C"/>
            </a:solidFill>
            <a:prstDash val="solid"/>
          </a:ln>
        </p:spPr>
        <p:txBody>
          <a:bodyPr/>
          <a:lstStyle/>
          <a:p>
            <a:endParaRPr lang="en-CA"/>
          </a:p>
        </p:txBody>
      </p:sp>
      <p:sp>
        <p:nvSpPr>
          <p:cNvPr id="3" name="Text 1"/>
          <p:cNvSpPr/>
          <p:nvPr/>
        </p:nvSpPr>
        <p:spPr>
          <a:xfrm>
            <a:off x="457200" y="164592"/>
            <a:ext cx="8229600" cy="502920"/>
          </a:xfrm>
          <a:prstGeom prst="rect">
            <a:avLst/>
          </a:prstGeom>
          <a:noFill/>
          <a:ln/>
        </p:spPr>
        <p:txBody>
          <a:bodyPr wrap="square" lIns="0" tIns="0" rIns="0" bIns="0" rtlCol="0" anchor="ctr"/>
          <a:lstStyle/>
          <a:p>
            <a:pPr marL="0" indent="0" algn="l">
              <a:buNone/>
            </a:pPr>
            <a:r>
              <a:rPr lang="en-US" sz="2600" b="1" dirty="0">
                <a:solidFill>
                  <a:srgbClr val="FFFFFF"/>
                </a:solidFill>
                <a:latin typeface="Calibri" pitchFamily="34" charset="0"/>
                <a:ea typeface="Calibri" pitchFamily="34" charset="-122"/>
                <a:cs typeface="Calibri" pitchFamily="34" charset="-120"/>
              </a:rPr>
              <a:t>System Architecture</a:t>
            </a:r>
            <a:endParaRPr lang="en-US" sz="2600" dirty="0"/>
          </a:p>
        </p:txBody>
      </p:sp>
      <p:sp>
        <p:nvSpPr>
          <p:cNvPr id="4" name="Shape 2"/>
          <p:cNvSpPr/>
          <p:nvPr/>
        </p:nvSpPr>
        <p:spPr>
          <a:xfrm>
            <a:off x="457200" y="713232"/>
            <a:ext cx="8229600" cy="22860"/>
          </a:xfrm>
          <a:prstGeom prst="rect">
            <a:avLst/>
          </a:prstGeom>
          <a:solidFill>
            <a:srgbClr val="3498DB"/>
          </a:solidFill>
          <a:ln w="12700">
            <a:solidFill>
              <a:srgbClr val="3498DB"/>
            </a:solidFill>
            <a:prstDash val="solid"/>
          </a:ln>
        </p:spPr>
        <p:txBody>
          <a:bodyPr/>
          <a:lstStyle/>
          <a:p>
            <a:endParaRPr lang="en-CA"/>
          </a:p>
        </p:txBody>
      </p:sp>
      <p:sp>
        <p:nvSpPr>
          <p:cNvPr id="5" name="Shape 3"/>
          <p:cNvSpPr/>
          <p:nvPr/>
        </p:nvSpPr>
        <p:spPr>
          <a:xfrm>
            <a:off x="274320" y="1005840"/>
            <a:ext cx="2286000" cy="3474720"/>
          </a:xfrm>
          <a:prstGeom prst="rect">
            <a:avLst/>
          </a:prstGeom>
          <a:solidFill>
            <a:srgbClr val="2C3E50"/>
          </a:solidFill>
          <a:ln w="12700">
            <a:solidFill>
              <a:srgbClr val="3498DB"/>
            </a:solidFill>
            <a:prstDash val="solid"/>
          </a:ln>
        </p:spPr>
        <p:txBody>
          <a:bodyPr/>
          <a:lstStyle/>
          <a:p>
            <a:endParaRPr lang="en-CA"/>
          </a:p>
        </p:txBody>
      </p:sp>
      <p:sp>
        <p:nvSpPr>
          <p:cNvPr id="6" name="Shape 4"/>
          <p:cNvSpPr/>
          <p:nvPr/>
        </p:nvSpPr>
        <p:spPr>
          <a:xfrm>
            <a:off x="274320" y="1005840"/>
            <a:ext cx="2286000" cy="365760"/>
          </a:xfrm>
          <a:prstGeom prst="rect">
            <a:avLst/>
          </a:prstGeom>
          <a:solidFill>
            <a:srgbClr val="3498DB"/>
          </a:solidFill>
          <a:ln w="12700">
            <a:solidFill>
              <a:srgbClr val="3498DB"/>
            </a:solidFill>
            <a:prstDash val="solid"/>
          </a:ln>
        </p:spPr>
        <p:txBody>
          <a:bodyPr/>
          <a:lstStyle/>
          <a:p>
            <a:endParaRPr lang="en-CA"/>
          </a:p>
        </p:txBody>
      </p:sp>
      <p:sp>
        <p:nvSpPr>
          <p:cNvPr id="7" name="Text 5"/>
          <p:cNvSpPr/>
          <p:nvPr/>
        </p:nvSpPr>
        <p:spPr>
          <a:xfrm>
            <a:off x="274320" y="1005840"/>
            <a:ext cx="228600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CLIENT</a:t>
            </a:r>
            <a:endParaRPr lang="en-US" sz="1300" dirty="0"/>
          </a:p>
        </p:txBody>
      </p:sp>
      <p:sp>
        <p:nvSpPr>
          <p:cNvPr id="8" name="Text 6"/>
          <p:cNvSpPr/>
          <p:nvPr/>
        </p:nvSpPr>
        <p:spPr>
          <a:xfrm>
            <a:off x="274320" y="1417320"/>
            <a:ext cx="2286000" cy="274320"/>
          </a:xfrm>
          <a:prstGeom prst="rect">
            <a:avLst/>
          </a:prstGeom>
          <a:noFill/>
          <a:ln/>
        </p:spPr>
        <p:txBody>
          <a:bodyPr wrap="square" lIns="0" tIns="0" rIns="0" bIns="0" rtlCol="0" anchor="ctr"/>
          <a:lstStyle/>
          <a:p>
            <a:pPr marL="0" indent="0" algn="ctr">
              <a:buNone/>
            </a:pPr>
            <a:r>
              <a:rPr lang="en-US" sz="1100" i="1" dirty="0">
                <a:solidFill>
                  <a:srgbClr val="BDC3C7"/>
                </a:solidFill>
                <a:latin typeface="Calibri" pitchFamily="34" charset="0"/>
                <a:ea typeface="Calibri" pitchFamily="34" charset="-122"/>
                <a:cs typeface="Calibri" pitchFamily="34" charset="-120"/>
              </a:rPr>
              <a:t>Ground Station</a:t>
            </a:r>
            <a:endParaRPr lang="en-US" sz="1100" dirty="0"/>
          </a:p>
        </p:txBody>
      </p:sp>
      <p:sp>
        <p:nvSpPr>
          <p:cNvPr id="9" name="Shape 7"/>
          <p:cNvSpPr/>
          <p:nvPr/>
        </p:nvSpPr>
        <p:spPr>
          <a:xfrm>
            <a:off x="411480" y="1810512"/>
            <a:ext cx="2011680" cy="384048"/>
          </a:xfrm>
          <a:prstGeom prst="rect">
            <a:avLst/>
          </a:prstGeom>
          <a:solidFill>
            <a:srgbClr val="1B4F72"/>
          </a:solidFill>
          <a:ln w="12700">
            <a:solidFill>
              <a:srgbClr val="5DADE2"/>
            </a:solidFill>
            <a:prstDash val="solid"/>
          </a:ln>
        </p:spPr>
        <p:txBody>
          <a:bodyPr/>
          <a:lstStyle/>
          <a:p>
            <a:endParaRPr lang="en-CA"/>
          </a:p>
        </p:txBody>
      </p:sp>
      <p:sp>
        <p:nvSpPr>
          <p:cNvPr id="10" name="Text 8"/>
          <p:cNvSpPr/>
          <p:nvPr/>
        </p:nvSpPr>
        <p:spPr>
          <a:xfrm>
            <a:off x="411480" y="1810512"/>
            <a:ext cx="2011680" cy="384048"/>
          </a:xfrm>
          <a:prstGeom prst="rect">
            <a:avLst/>
          </a:prstGeom>
          <a:noFill/>
          <a:ln/>
        </p:spPr>
        <p:txBody>
          <a:bodyPr wrap="square" lIns="0" tIns="0" rIns="0" bIns="0"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Connect to Server</a:t>
            </a:r>
            <a:endParaRPr lang="en-US" sz="1050" dirty="0"/>
          </a:p>
        </p:txBody>
      </p:sp>
      <p:sp>
        <p:nvSpPr>
          <p:cNvPr id="11" name="Shape 9"/>
          <p:cNvSpPr/>
          <p:nvPr/>
        </p:nvSpPr>
        <p:spPr>
          <a:xfrm>
            <a:off x="411480" y="2304288"/>
            <a:ext cx="2011680" cy="384048"/>
          </a:xfrm>
          <a:prstGeom prst="rect">
            <a:avLst/>
          </a:prstGeom>
          <a:solidFill>
            <a:srgbClr val="1B4F72"/>
          </a:solidFill>
          <a:ln w="12700">
            <a:solidFill>
              <a:srgbClr val="5DADE2"/>
            </a:solidFill>
            <a:prstDash val="solid"/>
          </a:ln>
        </p:spPr>
        <p:txBody>
          <a:bodyPr/>
          <a:lstStyle/>
          <a:p>
            <a:endParaRPr lang="en-CA"/>
          </a:p>
        </p:txBody>
      </p:sp>
      <p:sp>
        <p:nvSpPr>
          <p:cNvPr id="12" name="Text 10"/>
          <p:cNvSpPr/>
          <p:nvPr/>
        </p:nvSpPr>
        <p:spPr>
          <a:xfrm>
            <a:off x="411480" y="2304288"/>
            <a:ext cx="2011680" cy="384048"/>
          </a:xfrm>
          <a:prstGeom prst="rect">
            <a:avLst/>
          </a:prstGeom>
          <a:noFill/>
          <a:ln/>
        </p:spPr>
        <p:txBody>
          <a:bodyPr wrap="square" lIns="0" tIns="0" rIns="0" bIns="0"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Send VERIFY Request</a:t>
            </a:r>
            <a:endParaRPr lang="en-US" sz="1050" dirty="0"/>
          </a:p>
        </p:txBody>
      </p:sp>
      <p:sp>
        <p:nvSpPr>
          <p:cNvPr id="13" name="Shape 11"/>
          <p:cNvSpPr/>
          <p:nvPr/>
        </p:nvSpPr>
        <p:spPr>
          <a:xfrm>
            <a:off x="411480" y="2798064"/>
            <a:ext cx="2011680" cy="384048"/>
          </a:xfrm>
          <a:prstGeom prst="rect">
            <a:avLst/>
          </a:prstGeom>
          <a:solidFill>
            <a:srgbClr val="1B4F72"/>
          </a:solidFill>
          <a:ln w="12700">
            <a:solidFill>
              <a:srgbClr val="5DADE2"/>
            </a:solidFill>
            <a:prstDash val="solid"/>
          </a:ln>
        </p:spPr>
        <p:txBody>
          <a:bodyPr/>
          <a:lstStyle/>
          <a:p>
            <a:endParaRPr lang="en-CA"/>
          </a:p>
        </p:txBody>
      </p:sp>
      <p:sp>
        <p:nvSpPr>
          <p:cNvPr id="14" name="Text 12"/>
          <p:cNvSpPr/>
          <p:nvPr/>
        </p:nvSpPr>
        <p:spPr>
          <a:xfrm>
            <a:off x="411480" y="2798064"/>
            <a:ext cx="2011680" cy="384048"/>
          </a:xfrm>
          <a:prstGeom prst="rect">
            <a:avLst/>
          </a:prstGeom>
          <a:noFill/>
          <a:ln/>
        </p:spPr>
        <p:txBody>
          <a:bodyPr wrap="square" lIns="0" tIns="0" rIns="0" bIns="0"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Request Sensor Data</a:t>
            </a:r>
            <a:endParaRPr lang="en-US" sz="1050" dirty="0"/>
          </a:p>
        </p:txBody>
      </p:sp>
      <p:sp>
        <p:nvSpPr>
          <p:cNvPr id="15" name="Shape 13"/>
          <p:cNvSpPr/>
          <p:nvPr/>
        </p:nvSpPr>
        <p:spPr>
          <a:xfrm>
            <a:off x="411480" y="3291840"/>
            <a:ext cx="2011680" cy="384048"/>
          </a:xfrm>
          <a:prstGeom prst="rect">
            <a:avLst/>
          </a:prstGeom>
          <a:solidFill>
            <a:srgbClr val="1B4F72"/>
          </a:solidFill>
          <a:ln w="12700">
            <a:solidFill>
              <a:srgbClr val="5DADE2"/>
            </a:solidFill>
            <a:prstDash val="solid"/>
          </a:ln>
        </p:spPr>
        <p:txBody>
          <a:bodyPr/>
          <a:lstStyle/>
          <a:p>
            <a:endParaRPr lang="en-CA"/>
          </a:p>
        </p:txBody>
      </p:sp>
      <p:sp>
        <p:nvSpPr>
          <p:cNvPr id="16" name="Text 14"/>
          <p:cNvSpPr/>
          <p:nvPr/>
        </p:nvSpPr>
        <p:spPr>
          <a:xfrm>
            <a:off x="411480" y="3291840"/>
            <a:ext cx="2011680" cy="384048"/>
          </a:xfrm>
          <a:prstGeom prst="rect">
            <a:avLst/>
          </a:prstGeom>
          <a:noFill/>
          <a:ln/>
        </p:spPr>
        <p:txBody>
          <a:bodyPr wrap="square" lIns="0" tIns="0" rIns="0" bIns="0"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Request Telemetry File</a:t>
            </a:r>
            <a:endParaRPr lang="en-US" sz="1050" dirty="0"/>
          </a:p>
        </p:txBody>
      </p:sp>
      <p:sp>
        <p:nvSpPr>
          <p:cNvPr id="17" name="Shape 15"/>
          <p:cNvSpPr/>
          <p:nvPr/>
        </p:nvSpPr>
        <p:spPr>
          <a:xfrm>
            <a:off x="411480" y="3785616"/>
            <a:ext cx="2011680" cy="384048"/>
          </a:xfrm>
          <a:prstGeom prst="rect">
            <a:avLst/>
          </a:prstGeom>
          <a:solidFill>
            <a:srgbClr val="1B4F72"/>
          </a:solidFill>
          <a:ln w="12700">
            <a:solidFill>
              <a:srgbClr val="5DADE2"/>
            </a:solidFill>
            <a:prstDash val="solid"/>
          </a:ln>
        </p:spPr>
        <p:txBody>
          <a:bodyPr/>
          <a:lstStyle/>
          <a:p>
            <a:endParaRPr lang="en-CA"/>
          </a:p>
        </p:txBody>
      </p:sp>
      <p:sp>
        <p:nvSpPr>
          <p:cNvPr id="18" name="Text 16"/>
          <p:cNvSpPr/>
          <p:nvPr/>
        </p:nvSpPr>
        <p:spPr>
          <a:xfrm>
            <a:off x="411480" y="3785616"/>
            <a:ext cx="2011680" cy="384048"/>
          </a:xfrm>
          <a:prstGeom prst="rect">
            <a:avLst/>
          </a:prstGeom>
          <a:noFill/>
          <a:ln/>
        </p:spPr>
        <p:txBody>
          <a:bodyPr wrap="square" lIns="0" tIns="0" rIns="0" bIns="0"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Display Results</a:t>
            </a:r>
            <a:endParaRPr lang="en-US" sz="1050" dirty="0"/>
          </a:p>
        </p:txBody>
      </p:sp>
      <p:sp>
        <p:nvSpPr>
          <p:cNvPr id="19" name="Shape 17"/>
          <p:cNvSpPr/>
          <p:nvPr/>
        </p:nvSpPr>
        <p:spPr>
          <a:xfrm>
            <a:off x="2560320" y="2103120"/>
            <a:ext cx="4023360" cy="2377440"/>
          </a:xfrm>
          <a:prstGeom prst="rect">
            <a:avLst/>
          </a:prstGeom>
          <a:solidFill>
            <a:srgbClr val="071828"/>
          </a:solidFill>
          <a:ln w="12700">
            <a:solidFill>
              <a:srgbClr val="1ABC9C"/>
            </a:solidFill>
            <a:prstDash val="solid"/>
          </a:ln>
        </p:spPr>
        <p:txBody>
          <a:bodyPr/>
          <a:lstStyle/>
          <a:p>
            <a:endParaRPr lang="en-CA"/>
          </a:p>
        </p:txBody>
      </p:sp>
      <p:sp>
        <p:nvSpPr>
          <p:cNvPr id="20" name="Text 18"/>
          <p:cNvSpPr/>
          <p:nvPr/>
        </p:nvSpPr>
        <p:spPr>
          <a:xfrm>
            <a:off x="2560320" y="2103120"/>
            <a:ext cx="4023360" cy="347472"/>
          </a:xfrm>
          <a:prstGeom prst="rect">
            <a:avLst/>
          </a:prstGeom>
          <a:noFill/>
          <a:ln/>
        </p:spPr>
        <p:txBody>
          <a:bodyPr wrap="square" lIns="0" tIns="0" rIns="0" bIns="0" rtlCol="0" anchor="ctr"/>
          <a:lstStyle/>
          <a:p>
            <a:pPr marL="0" indent="0" algn="ctr">
              <a:buNone/>
            </a:pPr>
            <a:r>
              <a:rPr lang="en-US" sz="1100" b="1" dirty="0">
                <a:solidFill>
                  <a:srgbClr val="1ABC9C"/>
                </a:solidFill>
                <a:latin typeface="Calibri" pitchFamily="34" charset="0"/>
                <a:ea typeface="Calibri" pitchFamily="34" charset="-122"/>
                <a:cs typeface="Calibri" pitchFamily="34" charset="-120"/>
              </a:rPr>
              <a:t>TCP/IP NETWORK</a:t>
            </a:r>
            <a:endParaRPr lang="en-US" sz="1100" dirty="0"/>
          </a:p>
        </p:txBody>
      </p:sp>
      <p:sp>
        <p:nvSpPr>
          <p:cNvPr id="21" name="Text 19"/>
          <p:cNvSpPr/>
          <p:nvPr/>
        </p:nvSpPr>
        <p:spPr>
          <a:xfrm>
            <a:off x="2651760" y="2578608"/>
            <a:ext cx="3840480" cy="320040"/>
          </a:xfrm>
          <a:prstGeom prst="rect">
            <a:avLst/>
          </a:prstGeom>
          <a:noFill/>
          <a:ln/>
        </p:spPr>
        <p:txBody>
          <a:bodyPr wrap="square" lIns="0" tIns="0" rIns="0" bIns="0" rtlCol="0" anchor="ctr"/>
          <a:lstStyle/>
          <a:p>
            <a:pPr marL="0" indent="0" algn="ctr">
              <a:buNone/>
            </a:pPr>
            <a:r>
              <a:rPr lang="en-US" sz="1050" b="1" dirty="0">
                <a:solidFill>
                  <a:srgbClr val="5DADE2"/>
                </a:solidFill>
                <a:latin typeface="Calibri" pitchFamily="34" charset="0"/>
                <a:ea typeface="Calibri" pitchFamily="34" charset="-122"/>
                <a:cs typeface="Calibri" pitchFamily="34" charset="-120"/>
              </a:rPr>
              <a:t>→ VERIFY / CMD</a:t>
            </a:r>
            <a:endParaRPr lang="en-US" sz="1050" dirty="0"/>
          </a:p>
        </p:txBody>
      </p:sp>
      <p:sp>
        <p:nvSpPr>
          <p:cNvPr id="22" name="Text 20"/>
          <p:cNvSpPr/>
          <p:nvPr/>
        </p:nvSpPr>
        <p:spPr>
          <a:xfrm>
            <a:off x="2651760" y="2971800"/>
            <a:ext cx="3840480" cy="320040"/>
          </a:xfrm>
          <a:prstGeom prst="rect">
            <a:avLst/>
          </a:prstGeom>
          <a:noFill/>
          <a:ln/>
        </p:spPr>
        <p:txBody>
          <a:bodyPr wrap="square" lIns="0" tIns="0" rIns="0" bIns="0" rtlCol="0" anchor="ctr"/>
          <a:lstStyle/>
          <a:p>
            <a:pPr marL="0" indent="0" algn="ctr">
              <a:buNone/>
            </a:pPr>
            <a:r>
              <a:rPr lang="en-US" sz="1050" dirty="0">
                <a:solidFill>
                  <a:srgbClr val="1ABC9C"/>
                </a:solidFill>
                <a:latin typeface="Calibri" pitchFamily="34" charset="0"/>
                <a:ea typeface="Calibri" pitchFamily="34" charset="-122"/>
                <a:cs typeface="Calibri" pitchFamily="34" charset="-120"/>
              </a:rPr>
              <a:t>← ACK / DATA</a:t>
            </a:r>
            <a:endParaRPr lang="en-US" sz="1050" dirty="0"/>
          </a:p>
        </p:txBody>
      </p:sp>
      <p:sp>
        <p:nvSpPr>
          <p:cNvPr id="23" name="Text 21"/>
          <p:cNvSpPr/>
          <p:nvPr/>
        </p:nvSpPr>
        <p:spPr>
          <a:xfrm>
            <a:off x="2651760" y="3364992"/>
            <a:ext cx="3840480" cy="320040"/>
          </a:xfrm>
          <a:prstGeom prst="rect">
            <a:avLst/>
          </a:prstGeom>
          <a:noFill/>
          <a:ln/>
        </p:spPr>
        <p:txBody>
          <a:bodyPr wrap="square" lIns="0" tIns="0" rIns="0" bIns="0" rtlCol="0" anchor="ctr"/>
          <a:lstStyle/>
          <a:p>
            <a:pPr marL="0" indent="0" algn="ctr">
              <a:buNone/>
            </a:pPr>
            <a:r>
              <a:rPr lang="en-US" sz="1050" b="1" dirty="0">
                <a:solidFill>
                  <a:srgbClr val="5DADE2"/>
                </a:solidFill>
                <a:latin typeface="Calibri" pitchFamily="34" charset="0"/>
                <a:ea typeface="Calibri" pitchFamily="34" charset="-122"/>
                <a:cs typeface="Calibri" pitchFamily="34" charset="-120"/>
              </a:rPr>
              <a:t>→ FILE REQUEST</a:t>
            </a:r>
            <a:endParaRPr lang="en-US" sz="1050" dirty="0"/>
          </a:p>
        </p:txBody>
      </p:sp>
      <p:sp>
        <p:nvSpPr>
          <p:cNvPr id="24" name="Text 22"/>
          <p:cNvSpPr/>
          <p:nvPr/>
        </p:nvSpPr>
        <p:spPr>
          <a:xfrm>
            <a:off x="2651760" y="3758184"/>
            <a:ext cx="3840480" cy="320040"/>
          </a:xfrm>
          <a:prstGeom prst="rect">
            <a:avLst/>
          </a:prstGeom>
          <a:noFill/>
          <a:ln/>
        </p:spPr>
        <p:txBody>
          <a:bodyPr wrap="square" lIns="0" tIns="0" rIns="0" bIns="0" rtlCol="0" anchor="ctr"/>
          <a:lstStyle/>
          <a:p>
            <a:pPr marL="0" indent="0" algn="ctr">
              <a:buNone/>
            </a:pPr>
            <a:r>
              <a:rPr lang="en-US" sz="1050" dirty="0">
                <a:solidFill>
                  <a:srgbClr val="1ABC9C"/>
                </a:solidFill>
                <a:latin typeface="Calibri" pitchFamily="34" charset="0"/>
                <a:ea typeface="Calibri" pitchFamily="34" charset="-122"/>
                <a:cs typeface="Calibri" pitchFamily="34" charset="-120"/>
              </a:rPr>
              <a:t>← TELEMETRY FILE (&gt;1MB)</a:t>
            </a:r>
            <a:endParaRPr lang="en-US" sz="1050" dirty="0"/>
          </a:p>
        </p:txBody>
      </p:sp>
      <p:sp>
        <p:nvSpPr>
          <p:cNvPr id="25" name="Shape 23"/>
          <p:cNvSpPr/>
          <p:nvPr/>
        </p:nvSpPr>
        <p:spPr>
          <a:xfrm>
            <a:off x="6583680" y="1005840"/>
            <a:ext cx="2286000" cy="3474720"/>
          </a:xfrm>
          <a:prstGeom prst="rect">
            <a:avLst/>
          </a:prstGeom>
          <a:solidFill>
            <a:srgbClr val="2C3E50"/>
          </a:solidFill>
          <a:ln w="12700">
            <a:solidFill>
              <a:srgbClr val="1ABC9C"/>
            </a:solidFill>
            <a:prstDash val="solid"/>
          </a:ln>
        </p:spPr>
        <p:txBody>
          <a:bodyPr/>
          <a:lstStyle/>
          <a:p>
            <a:endParaRPr lang="en-CA"/>
          </a:p>
        </p:txBody>
      </p:sp>
      <p:sp>
        <p:nvSpPr>
          <p:cNvPr id="26" name="Shape 24"/>
          <p:cNvSpPr/>
          <p:nvPr/>
        </p:nvSpPr>
        <p:spPr>
          <a:xfrm>
            <a:off x="6583680" y="1005840"/>
            <a:ext cx="2286000" cy="365760"/>
          </a:xfrm>
          <a:prstGeom prst="rect">
            <a:avLst/>
          </a:prstGeom>
          <a:solidFill>
            <a:srgbClr val="1ABC9C"/>
          </a:solidFill>
          <a:ln w="12700">
            <a:solidFill>
              <a:srgbClr val="1ABC9C"/>
            </a:solidFill>
            <a:prstDash val="solid"/>
          </a:ln>
        </p:spPr>
        <p:txBody>
          <a:bodyPr/>
          <a:lstStyle/>
          <a:p>
            <a:endParaRPr lang="en-CA"/>
          </a:p>
        </p:txBody>
      </p:sp>
      <p:sp>
        <p:nvSpPr>
          <p:cNvPr id="27" name="Text 25"/>
          <p:cNvSpPr/>
          <p:nvPr/>
        </p:nvSpPr>
        <p:spPr>
          <a:xfrm>
            <a:off x="6583680" y="1005840"/>
            <a:ext cx="228600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SERVER</a:t>
            </a:r>
            <a:endParaRPr lang="en-US" sz="1300" dirty="0"/>
          </a:p>
        </p:txBody>
      </p:sp>
      <p:sp>
        <p:nvSpPr>
          <p:cNvPr id="28" name="Text 26"/>
          <p:cNvSpPr/>
          <p:nvPr/>
        </p:nvSpPr>
        <p:spPr>
          <a:xfrm>
            <a:off x="6583680" y="1417320"/>
            <a:ext cx="2286000" cy="274320"/>
          </a:xfrm>
          <a:prstGeom prst="rect">
            <a:avLst/>
          </a:prstGeom>
          <a:noFill/>
          <a:ln/>
        </p:spPr>
        <p:txBody>
          <a:bodyPr wrap="square" lIns="0" tIns="0" rIns="0" bIns="0" rtlCol="0" anchor="ctr"/>
          <a:lstStyle/>
          <a:p>
            <a:pPr marL="0" indent="0" algn="ctr">
              <a:buNone/>
            </a:pPr>
            <a:r>
              <a:rPr lang="en-US" sz="1100" i="1" dirty="0">
                <a:solidFill>
                  <a:srgbClr val="BDC3C7"/>
                </a:solidFill>
                <a:latin typeface="Calibri" pitchFamily="34" charset="0"/>
                <a:ea typeface="Calibri" pitchFamily="34" charset="-122"/>
                <a:cs typeface="Calibri" pitchFamily="34" charset="-120"/>
              </a:rPr>
              <a:t>Aircraft System</a:t>
            </a:r>
            <a:endParaRPr lang="en-US" sz="1100" dirty="0"/>
          </a:p>
        </p:txBody>
      </p:sp>
      <p:sp>
        <p:nvSpPr>
          <p:cNvPr id="29" name="Shape 27"/>
          <p:cNvSpPr/>
          <p:nvPr/>
        </p:nvSpPr>
        <p:spPr>
          <a:xfrm>
            <a:off x="6720840" y="1810512"/>
            <a:ext cx="2011680" cy="384048"/>
          </a:xfrm>
          <a:prstGeom prst="rect">
            <a:avLst/>
          </a:prstGeom>
          <a:solidFill>
            <a:srgbClr val="1B4F72"/>
          </a:solidFill>
          <a:ln w="12700">
            <a:solidFill>
              <a:srgbClr val="FFFFFF">
                <a:alpha val="30000"/>
              </a:srgbClr>
            </a:solidFill>
            <a:prstDash val="solid"/>
          </a:ln>
        </p:spPr>
        <p:txBody>
          <a:bodyPr/>
          <a:lstStyle/>
          <a:p>
            <a:endParaRPr lang="en-CA"/>
          </a:p>
        </p:txBody>
      </p:sp>
      <p:sp>
        <p:nvSpPr>
          <p:cNvPr id="30" name="Text 28"/>
          <p:cNvSpPr/>
          <p:nvPr/>
        </p:nvSpPr>
        <p:spPr>
          <a:xfrm>
            <a:off x="6720840" y="1810512"/>
            <a:ext cx="2011680" cy="384048"/>
          </a:xfrm>
          <a:prstGeom prst="rect">
            <a:avLst/>
          </a:prstGeom>
          <a:noFill/>
          <a:ln/>
        </p:spPr>
        <p:txBody>
          <a:bodyPr wrap="square" lIns="0" tIns="0" rIns="0" bIns="0"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Listen on Port</a:t>
            </a:r>
            <a:endParaRPr lang="en-US" sz="1050" dirty="0"/>
          </a:p>
        </p:txBody>
      </p:sp>
      <p:sp>
        <p:nvSpPr>
          <p:cNvPr id="31" name="Shape 29"/>
          <p:cNvSpPr/>
          <p:nvPr/>
        </p:nvSpPr>
        <p:spPr>
          <a:xfrm>
            <a:off x="6720840" y="2304288"/>
            <a:ext cx="2011680" cy="384048"/>
          </a:xfrm>
          <a:prstGeom prst="rect">
            <a:avLst/>
          </a:prstGeom>
          <a:solidFill>
            <a:srgbClr val="E74C3C"/>
          </a:solidFill>
          <a:ln w="12700">
            <a:solidFill>
              <a:srgbClr val="FFFFFF">
                <a:alpha val="30000"/>
              </a:srgbClr>
            </a:solidFill>
            <a:prstDash val="solid"/>
          </a:ln>
        </p:spPr>
        <p:txBody>
          <a:bodyPr/>
          <a:lstStyle/>
          <a:p>
            <a:endParaRPr lang="en-CA"/>
          </a:p>
        </p:txBody>
      </p:sp>
      <p:sp>
        <p:nvSpPr>
          <p:cNvPr id="32" name="Text 30"/>
          <p:cNvSpPr/>
          <p:nvPr/>
        </p:nvSpPr>
        <p:spPr>
          <a:xfrm>
            <a:off x="6720840" y="2304288"/>
            <a:ext cx="2011680" cy="384048"/>
          </a:xfrm>
          <a:prstGeom prst="rect">
            <a:avLst/>
          </a:prstGeom>
          <a:noFill/>
          <a:ln/>
        </p:spPr>
        <p:txBody>
          <a:bodyPr wrap="square" lIns="0" tIns="0" rIns="0" bIns="0"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 WAITING</a:t>
            </a:r>
            <a:endParaRPr lang="en-US" sz="1050" dirty="0"/>
          </a:p>
        </p:txBody>
      </p:sp>
      <p:sp>
        <p:nvSpPr>
          <p:cNvPr id="33" name="Shape 31"/>
          <p:cNvSpPr/>
          <p:nvPr/>
        </p:nvSpPr>
        <p:spPr>
          <a:xfrm>
            <a:off x="6720840" y="2798064"/>
            <a:ext cx="2011680" cy="384048"/>
          </a:xfrm>
          <a:prstGeom prst="rect">
            <a:avLst/>
          </a:prstGeom>
          <a:solidFill>
            <a:srgbClr val="F39C12"/>
          </a:solidFill>
          <a:ln w="12700">
            <a:solidFill>
              <a:srgbClr val="FFFFFF">
                <a:alpha val="30000"/>
              </a:srgbClr>
            </a:solidFill>
            <a:prstDash val="solid"/>
          </a:ln>
        </p:spPr>
        <p:txBody>
          <a:bodyPr/>
          <a:lstStyle/>
          <a:p>
            <a:endParaRPr lang="en-CA"/>
          </a:p>
        </p:txBody>
      </p:sp>
      <p:sp>
        <p:nvSpPr>
          <p:cNvPr id="34" name="Text 32"/>
          <p:cNvSpPr/>
          <p:nvPr/>
        </p:nvSpPr>
        <p:spPr>
          <a:xfrm>
            <a:off x="6720840" y="2798064"/>
            <a:ext cx="2011680" cy="384048"/>
          </a:xfrm>
          <a:prstGeom prst="rect">
            <a:avLst/>
          </a:prstGeom>
          <a:noFill/>
          <a:ln/>
        </p:spPr>
        <p:txBody>
          <a:bodyPr wrap="square" lIns="0" tIns="0" rIns="0" bIns="0"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 CONNECTED</a:t>
            </a:r>
            <a:endParaRPr lang="en-US" sz="1050" dirty="0"/>
          </a:p>
        </p:txBody>
      </p:sp>
      <p:sp>
        <p:nvSpPr>
          <p:cNvPr id="35" name="Shape 33"/>
          <p:cNvSpPr/>
          <p:nvPr/>
        </p:nvSpPr>
        <p:spPr>
          <a:xfrm>
            <a:off x="6720840" y="3291840"/>
            <a:ext cx="2011680" cy="384048"/>
          </a:xfrm>
          <a:prstGeom prst="rect">
            <a:avLst/>
          </a:prstGeom>
          <a:solidFill>
            <a:srgbClr val="27AE60"/>
          </a:solidFill>
          <a:ln w="12700">
            <a:solidFill>
              <a:srgbClr val="FFFFFF">
                <a:alpha val="30000"/>
              </a:srgbClr>
            </a:solidFill>
            <a:prstDash val="solid"/>
          </a:ln>
        </p:spPr>
        <p:txBody>
          <a:bodyPr/>
          <a:lstStyle/>
          <a:p>
            <a:endParaRPr lang="en-CA"/>
          </a:p>
        </p:txBody>
      </p:sp>
      <p:sp>
        <p:nvSpPr>
          <p:cNvPr id="36" name="Text 34"/>
          <p:cNvSpPr/>
          <p:nvPr/>
        </p:nvSpPr>
        <p:spPr>
          <a:xfrm>
            <a:off x="6720840" y="3291840"/>
            <a:ext cx="2011680" cy="384048"/>
          </a:xfrm>
          <a:prstGeom prst="rect">
            <a:avLst/>
          </a:prstGeom>
          <a:noFill/>
          <a:ln/>
        </p:spPr>
        <p:txBody>
          <a:bodyPr wrap="square" lIns="0" tIns="0" rIns="0" bIns="0"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 VERIFIED</a:t>
            </a:r>
            <a:endParaRPr lang="en-US" sz="1050" dirty="0"/>
          </a:p>
        </p:txBody>
      </p:sp>
      <p:sp>
        <p:nvSpPr>
          <p:cNvPr id="37" name="Shape 35"/>
          <p:cNvSpPr/>
          <p:nvPr/>
        </p:nvSpPr>
        <p:spPr>
          <a:xfrm>
            <a:off x="6720840" y="3785616"/>
            <a:ext cx="2011680" cy="384048"/>
          </a:xfrm>
          <a:prstGeom prst="rect">
            <a:avLst/>
          </a:prstGeom>
          <a:solidFill>
            <a:srgbClr val="1B4F72"/>
          </a:solidFill>
          <a:ln w="12700">
            <a:solidFill>
              <a:srgbClr val="FFFFFF">
                <a:alpha val="30000"/>
              </a:srgbClr>
            </a:solidFill>
            <a:prstDash val="solid"/>
          </a:ln>
        </p:spPr>
        <p:txBody>
          <a:bodyPr/>
          <a:lstStyle/>
          <a:p>
            <a:endParaRPr lang="en-CA"/>
          </a:p>
        </p:txBody>
      </p:sp>
      <p:sp>
        <p:nvSpPr>
          <p:cNvPr id="38" name="Text 36"/>
          <p:cNvSpPr/>
          <p:nvPr/>
        </p:nvSpPr>
        <p:spPr>
          <a:xfrm>
            <a:off x="6720840" y="3785616"/>
            <a:ext cx="2011680" cy="384048"/>
          </a:xfrm>
          <a:prstGeom prst="rect">
            <a:avLst/>
          </a:prstGeom>
          <a:noFill/>
          <a:ln/>
        </p:spPr>
        <p:txBody>
          <a:bodyPr wrap="square" lIns="0" tIns="0" rIns="0" bIns="0"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Send Data / File</a:t>
            </a:r>
            <a:endParaRPr lang="en-US" sz="1050" dirty="0"/>
          </a:p>
        </p:txBody>
      </p:sp>
      <p:sp>
        <p:nvSpPr>
          <p:cNvPr id="39" name="Text 37"/>
          <p:cNvSpPr/>
          <p:nvPr/>
        </p:nvSpPr>
        <p:spPr>
          <a:xfrm>
            <a:off x="274320" y="4663440"/>
            <a:ext cx="8595360" cy="320040"/>
          </a:xfrm>
          <a:prstGeom prst="rect">
            <a:avLst/>
          </a:prstGeom>
          <a:noFill/>
          <a:ln/>
        </p:spPr>
        <p:txBody>
          <a:bodyPr wrap="square" lIns="0" tIns="0" rIns="0" bIns="0" rtlCol="0" anchor="ctr"/>
          <a:lstStyle/>
          <a:p>
            <a:pPr marL="0" indent="0" algn="ctr">
              <a:buNone/>
            </a:pPr>
            <a:r>
              <a:rPr lang="en-US" sz="1100" i="1" dirty="0">
                <a:solidFill>
                  <a:srgbClr val="BDC3C7"/>
                </a:solidFill>
                <a:latin typeface="Calibri" pitchFamily="34" charset="0"/>
                <a:ea typeface="Calibri" pitchFamily="34" charset="-122"/>
                <a:cs typeface="Calibri" pitchFamily="34" charset="-120"/>
              </a:rPr>
              <a:t>Reliable delivery guaranteed by TCP — no packet loss, in-order data</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3498DB"/>
          </a:solidFill>
          <a:ln w="12700">
            <a:solidFill>
              <a:srgbClr val="3498DB"/>
            </a:solidFill>
            <a:prstDash val="solid"/>
          </a:ln>
        </p:spPr>
        <p:txBody>
          <a:bodyPr/>
          <a:lstStyle/>
          <a:p>
            <a:endParaRPr lang="en-CA"/>
          </a:p>
        </p:txBody>
      </p:sp>
      <p:sp>
        <p:nvSpPr>
          <p:cNvPr id="3" name="Text 1"/>
          <p:cNvSpPr/>
          <p:nvPr/>
        </p:nvSpPr>
        <p:spPr>
          <a:xfrm>
            <a:off x="457200" y="164592"/>
            <a:ext cx="8229600" cy="502920"/>
          </a:xfrm>
          <a:prstGeom prst="rect">
            <a:avLst/>
          </a:prstGeom>
          <a:noFill/>
          <a:ln/>
        </p:spPr>
        <p:txBody>
          <a:bodyPr wrap="square" lIns="0" tIns="0" rIns="0" bIns="0" rtlCol="0" anchor="ctr"/>
          <a:lstStyle/>
          <a:p>
            <a:pPr marL="0" indent="0" algn="l">
              <a:buNone/>
            </a:pPr>
            <a:r>
              <a:rPr lang="en-US" sz="2600" b="1" dirty="0">
                <a:solidFill>
                  <a:srgbClr val="FFFFFF"/>
                </a:solidFill>
                <a:latin typeface="Calibri" pitchFamily="34" charset="0"/>
                <a:ea typeface="Calibri" pitchFamily="34" charset="-122"/>
                <a:cs typeface="Calibri" pitchFamily="34" charset="-120"/>
              </a:rPr>
              <a:t>Client Implementation</a:t>
            </a:r>
            <a:endParaRPr lang="en-US" sz="2600" dirty="0"/>
          </a:p>
        </p:txBody>
      </p:sp>
      <p:sp>
        <p:nvSpPr>
          <p:cNvPr id="4" name="Shape 2"/>
          <p:cNvSpPr/>
          <p:nvPr/>
        </p:nvSpPr>
        <p:spPr>
          <a:xfrm>
            <a:off x="457200" y="713232"/>
            <a:ext cx="8229600" cy="22860"/>
          </a:xfrm>
          <a:prstGeom prst="rect">
            <a:avLst/>
          </a:prstGeom>
          <a:solidFill>
            <a:srgbClr val="3498DB"/>
          </a:solidFill>
          <a:ln w="12700">
            <a:solidFill>
              <a:srgbClr val="3498DB"/>
            </a:solidFill>
            <a:prstDash val="solid"/>
          </a:ln>
        </p:spPr>
        <p:txBody>
          <a:bodyPr/>
          <a:lstStyle/>
          <a:p>
            <a:endParaRPr lang="en-CA"/>
          </a:p>
        </p:txBody>
      </p:sp>
      <p:sp>
        <p:nvSpPr>
          <p:cNvPr id="5" name="Shape 3"/>
          <p:cNvSpPr/>
          <p:nvPr/>
        </p:nvSpPr>
        <p:spPr>
          <a:xfrm>
            <a:off x="365760" y="960120"/>
            <a:ext cx="4114800" cy="347472"/>
          </a:xfrm>
          <a:prstGeom prst="rect">
            <a:avLst/>
          </a:prstGeom>
          <a:solidFill>
            <a:srgbClr val="3498DB"/>
          </a:solidFill>
          <a:ln w="12700">
            <a:solidFill>
              <a:srgbClr val="3498DB"/>
            </a:solidFill>
            <a:prstDash val="solid"/>
          </a:ln>
        </p:spPr>
        <p:txBody>
          <a:bodyPr/>
          <a:lstStyle/>
          <a:p>
            <a:endParaRPr lang="en-CA"/>
          </a:p>
        </p:txBody>
      </p:sp>
      <p:sp>
        <p:nvSpPr>
          <p:cNvPr id="6" name="Text 4"/>
          <p:cNvSpPr/>
          <p:nvPr/>
        </p:nvSpPr>
        <p:spPr>
          <a:xfrm>
            <a:off x="365760" y="960120"/>
            <a:ext cx="4114800"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Client Responsibilities</a:t>
            </a:r>
            <a:endParaRPr lang="en-US" sz="1300" dirty="0"/>
          </a:p>
        </p:txBody>
      </p:sp>
      <p:sp>
        <p:nvSpPr>
          <p:cNvPr id="7" name="Shape 5"/>
          <p:cNvSpPr/>
          <p:nvPr/>
        </p:nvSpPr>
        <p:spPr>
          <a:xfrm>
            <a:off x="411480" y="1490472"/>
            <a:ext cx="201168" cy="201168"/>
          </a:xfrm>
          <a:prstGeom prst="ellipse">
            <a:avLst/>
          </a:prstGeom>
          <a:solidFill>
            <a:srgbClr val="3498DB"/>
          </a:solidFill>
          <a:ln w="12700">
            <a:solidFill>
              <a:srgbClr val="3498DB"/>
            </a:solidFill>
            <a:prstDash val="solid"/>
          </a:ln>
        </p:spPr>
        <p:txBody>
          <a:bodyPr/>
          <a:lstStyle/>
          <a:p>
            <a:endParaRPr lang="en-CA"/>
          </a:p>
        </p:txBody>
      </p:sp>
      <p:sp>
        <p:nvSpPr>
          <p:cNvPr id="8" name="Text 6"/>
          <p:cNvSpPr/>
          <p:nvPr/>
        </p:nvSpPr>
        <p:spPr>
          <a:xfrm>
            <a:off x="749808" y="1417320"/>
            <a:ext cx="3611880" cy="475488"/>
          </a:xfrm>
          <a:prstGeom prst="rect">
            <a:avLst/>
          </a:prstGeom>
          <a:noFill/>
          <a:ln/>
        </p:spPr>
        <p:txBody>
          <a:bodyPr wrap="square" lIns="0" tIns="0" rIns="0" bIns="0" rtlCol="0" anchor="ctr"/>
          <a:lstStyle/>
          <a:p>
            <a:pPr marL="0" indent="0">
              <a:buNone/>
            </a:pPr>
            <a:r>
              <a:rPr lang="en-US" sz="1200" dirty="0">
                <a:solidFill>
                  <a:srgbClr val="ECF0F1"/>
                </a:solidFill>
                <a:latin typeface="Calibri" pitchFamily="34" charset="0"/>
                <a:ea typeface="Calibri" pitchFamily="34" charset="-122"/>
                <a:cs typeface="Calibri" pitchFamily="34" charset="-120"/>
              </a:rPr>
              <a:t>Establish TCP/IP socket connection to server</a:t>
            </a:r>
            <a:endParaRPr lang="en-US" sz="1200" dirty="0"/>
          </a:p>
        </p:txBody>
      </p:sp>
      <p:sp>
        <p:nvSpPr>
          <p:cNvPr id="9" name="Shape 7"/>
          <p:cNvSpPr/>
          <p:nvPr/>
        </p:nvSpPr>
        <p:spPr>
          <a:xfrm>
            <a:off x="411480" y="2039112"/>
            <a:ext cx="201168" cy="201168"/>
          </a:xfrm>
          <a:prstGeom prst="ellipse">
            <a:avLst/>
          </a:prstGeom>
          <a:solidFill>
            <a:srgbClr val="3498DB"/>
          </a:solidFill>
          <a:ln w="12700">
            <a:solidFill>
              <a:srgbClr val="3498DB"/>
            </a:solidFill>
            <a:prstDash val="solid"/>
          </a:ln>
        </p:spPr>
        <p:txBody>
          <a:bodyPr/>
          <a:lstStyle/>
          <a:p>
            <a:endParaRPr lang="en-CA"/>
          </a:p>
        </p:txBody>
      </p:sp>
      <p:sp>
        <p:nvSpPr>
          <p:cNvPr id="10" name="Text 8"/>
          <p:cNvSpPr/>
          <p:nvPr/>
        </p:nvSpPr>
        <p:spPr>
          <a:xfrm>
            <a:off x="749808" y="1965960"/>
            <a:ext cx="3611880" cy="475488"/>
          </a:xfrm>
          <a:prstGeom prst="rect">
            <a:avLst/>
          </a:prstGeom>
          <a:noFill/>
          <a:ln/>
        </p:spPr>
        <p:txBody>
          <a:bodyPr wrap="square" lIns="0" tIns="0" rIns="0" bIns="0" rtlCol="0" anchor="ctr"/>
          <a:lstStyle/>
          <a:p>
            <a:pPr marL="0" indent="0">
              <a:buNone/>
            </a:pPr>
            <a:r>
              <a:rPr lang="en-US" sz="1200" dirty="0">
                <a:solidFill>
                  <a:srgbClr val="ECF0F1"/>
                </a:solidFill>
                <a:latin typeface="Calibri" pitchFamily="34" charset="0"/>
                <a:ea typeface="Calibri" pitchFamily="34" charset="-122"/>
                <a:cs typeface="Calibri" pitchFamily="34" charset="-120"/>
              </a:rPr>
              <a:t>Send VERIFY packet before any commands</a:t>
            </a:r>
            <a:endParaRPr lang="en-US" sz="1200" dirty="0"/>
          </a:p>
        </p:txBody>
      </p:sp>
      <p:sp>
        <p:nvSpPr>
          <p:cNvPr id="11" name="Shape 9"/>
          <p:cNvSpPr/>
          <p:nvPr/>
        </p:nvSpPr>
        <p:spPr>
          <a:xfrm>
            <a:off x="411480" y="2587752"/>
            <a:ext cx="201168" cy="201168"/>
          </a:xfrm>
          <a:prstGeom prst="ellipse">
            <a:avLst/>
          </a:prstGeom>
          <a:solidFill>
            <a:srgbClr val="3498DB"/>
          </a:solidFill>
          <a:ln w="12700">
            <a:solidFill>
              <a:srgbClr val="3498DB"/>
            </a:solidFill>
            <a:prstDash val="solid"/>
          </a:ln>
        </p:spPr>
        <p:txBody>
          <a:bodyPr/>
          <a:lstStyle/>
          <a:p>
            <a:endParaRPr lang="en-CA"/>
          </a:p>
        </p:txBody>
      </p:sp>
      <p:sp>
        <p:nvSpPr>
          <p:cNvPr id="12" name="Text 10"/>
          <p:cNvSpPr/>
          <p:nvPr/>
        </p:nvSpPr>
        <p:spPr>
          <a:xfrm>
            <a:off x="749808" y="2514600"/>
            <a:ext cx="3611880" cy="475488"/>
          </a:xfrm>
          <a:prstGeom prst="rect">
            <a:avLst/>
          </a:prstGeom>
          <a:noFill/>
          <a:ln/>
        </p:spPr>
        <p:txBody>
          <a:bodyPr wrap="square" lIns="0" tIns="0" rIns="0" bIns="0" rtlCol="0" anchor="ctr"/>
          <a:lstStyle/>
          <a:p>
            <a:pPr marL="0" indent="0">
              <a:buNone/>
            </a:pPr>
            <a:r>
              <a:rPr lang="en-US" sz="1200" dirty="0">
                <a:solidFill>
                  <a:srgbClr val="ECF0F1"/>
                </a:solidFill>
                <a:latin typeface="Calibri" pitchFamily="34" charset="0"/>
                <a:ea typeface="Calibri" pitchFamily="34" charset="-122"/>
                <a:cs typeface="Calibri" pitchFamily="34" charset="-120"/>
              </a:rPr>
              <a:t>Request live sensor data with timestamp</a:t>
            </a:r>
            <a:endParaRPr lang="en-US" sz="1200" dirty="0"/>
          </a:p>
        </p:txBody>
      </p:sp>
      <p:sp>
        <p:nvSpPr>
          <p:cNvPr id="13" name="Shape 11"/>
          <p:cNvSpPr/>
          <p:nvPr/>
        </p:nvSpPr>
        <p:spPr>
          <a:xfrm>
            <a:off x="411480" y="3136392"/>
            <a:ext cx="201168" cy="201168"/>
          </a:xfrm>
          <a:prstGeom prst="ellipse">
            <a:avLst/>
          </a:prstGeom>
          <a:solidFill>
            <a:srgbClr val="3498DB"/>
          </a:solidFill>
          <a:ln w="12700">
            <a:solidFill>
              <a:srgbClr val="3498DB"/>
            </a:solidFill>
            <a:prstDash val="solid"/>
          </a:ln>
        </p:spPr>
        <p:txBody>
          <a:bodyPr/>
          <a:lstStyle/>
          <a:p>
            <a:endParaRPr lang="en-CA"/>
          </a:p>
        </p:txBody>
      </p:sp>
      <p:sp>
        <p:nvSpPr>
          <p:cNvPr id="14" name="Text 12"/>
          <p:cNvSpPr/>
          <p:nvPr/>
        </p:nvSpPr>
        <p:spPr>
          <a:xfrm>
            <a:off x="749808" y="3063240"/>
            <a:ext cx="3611880" cy="475488"/>
          </a:xfrm>
          <a:prstGeom prst="rect">
            <a:avLst/>
          </a:prstGeom>
          <a:noFill/>
          <a:ln/>
        </p:spPr>
        <p:txBody>
          <a:bodyPr wrap="square" lIns="0" tIns="0" rIns="0" bIns="0" rtlCol="0" anchor="ctr"/>
          <a:lstStyle/>
          <a:p>
            <a:pPr marL="0" indent="0">
              <a:buNone/>
            </a:pPr>
            <a:r>
              <a:rPr lang="en-US" sz="1200" dirty="0">
                <a:solidFill>
                  <a:srgbClr val="ECF0F1"/>
                </a:solidFill>
                <a:latin typeface="Calibri" pitchFamily="34" charset="0"/>
                <a:ea typeface="Calibri" pitchFamily="34" charset="-122"/>
                <a:cs typeface="Calibri" pitchFamily="34" charset="-120"/>
              </a:rPr>
              <a:t>Request telemetry file (&gt;1 MB) via chunked transfer</a:t>
            </a:r>
            <a:endParaRPr lang="en-US" sz="1200" dirty="0"/>
          </a:p>
        </p:txBody>
      </p:sp>
      <p:sp>
        <p:nvSpPr>
          <p:cNvPr id="15" name="Shape 13"/>
          <p:cNvSpPr/>
          <p:nvPr/>
        </p:nvSpPr>
        <p:spPr>
          <a:xfrm>
            <a:off x="411480" y="3685032"/>
            <a:ext cx="201168" cy="201168"/>
          </a:xfrm>
          <a:prstGeom prst="ellipse">
            <a:avLst/>
          </a:prstGeom>
          <a:solidFill>
            <a:srgbClr val="3498DB"/>
          </a:solidFill>
          <a:ln w="12700">
            <a:solidFill>
              <a:srgbClr val="3498DB"/>
            </a:solidFill>
            <a:prstDash val="solid"/>
          </a:ln>
        </p:spPr>
        <p:txBody>
          <a:bodyPr/>
          <a:lstStyle/>
          <a:p>
            <a:endParaRPr lang="en-CA"/>
          </a:p>
        </p:txBody>
      </p:sp>
      <p:sp>
        <p:nvSpPr>
          <p:cNvPr id="16" name="Text 14"/>
          <p:cNvSpPr/>
          <p:nvPr/>
        </p:nvSpPr>
        <p:spPr>
          <a:xfrm>
            <a:off x="749808" y="3611880"/>
            <a:ext cx="3611880" cy="475488"/>
          </a:xfrm>
          <a:prstGeom prst="rect">
            <a:avLst/>
          </a:prstGeom>
          <a:noFill/>
          <a:ln/>
        </p:spPr>
        <p:txBody>
          <a:bodyPr wrap="square" lIns="0" tIns="0" rIns="0" bIns="0" rtlCol="0" anchor="ctr"/>
          <a:lstStyle/>
          <a:p>
            <a:pPr marL="0" indent="0">
              <a:buNone/>
            </a:pPr>
            <a:r>
              <a:rPr lang="en-US" sz="1200" dirty="0">
                <a:solidFill>
                  <a:srgbClr val="ECF0F1"/>
                </a:solidFill>
                <a:latin typeface="Calibri" pitchFamily="34" charset="0"/>
                <a:ea typeface="Calibri" pitchFamily="34" charset="-122"/>
                <a:cs typeface="Calibri" pitchFamily="34" charset="-120"/>
              </a:rPr>
              <a:t>Display sensor readings and notify on file completion</a:t>
            </a:r>
            <a:endParaRPr lang="en-US" sz="1200" dirty="0"/>
          </a:p>
        </p:txBody>
      </p:sp>
      <p:sp>
        <p:nvSpPr>
          <p:cNvPr id="17" name="Shape 15"/>
          <p:cNvSpPr/>
          <p:nvPr/>
        </p:nvSpPr>
        <p:spPr>
          <a:xfrm>
            <a:off x="411480" y="4233672"/>
            <a:ext cx="201168" cy="201168"/>
          </a:xfrm>
          <a:prstGeom prst="ellipse">
            <a:avLst/>
          </a:prstGeom>
          <a:solidFill>
            <a:srgbClr val="3498DB"/>
          </a:solidFill>
          <a:ln w="12700">
            <a:solidFill>
              <a:srgbClr val="3498DB"/>
            </a:solidFill>
            <a:prstDash val="solid"/>
          </a:ln>
        </p:spPr>
        <p:txBody>
          <a:bodyPr/>
          <a:lstStyle/>
          <a:p>
            <a:endParaRPr lang="en-CA"/>
          </a:p>
        </p:txBody>
      </p:sp>
      <p:sp>
        <p:nvSpPr>
          <p:cNvPr id="18" name="Text 16"/>
          <p:cNvSpPr/>
          <p:nvPr/>
        </p:nvSpPr>
        <p:spPr>
          <a:xfrm>
            <a:off x="749808" y="4160520"/>
            <a:ext cx="3611880" cy="475488"/>
          </a:xfrm>
          <a:prstGeom prst="rect">
            <a:avLst/>
          </a:prstGeom>
          <a:noFill/>
          <a:ln/>
        </p:spPr>
        <p:txBody>
          <a:bodyPr wrap="square" lIns="0" tIns="0" rIns="0" bIns="0" rtlCol="0" anchor="ctr"/>
          <a:lstStyle/>
          <a:p>
            <a:pPr marL="0" indent="0">
              <a:buNone/>
            </a:pPr>
            <a:r>
              <a:rPr lang="en-US" sz="1200" dirty="0">
                <a:solidFill>
                  <a:srgbClr val="ECF0F1"/>
                </a:solidFill>
                <a:latin typeface="Calibri" pitchFamily="34" charset="0"/>
                <a:ea typeface="Calibri" pitchFamily="34" charset="-122"/>
                <a:cs typeface="Calibri" pitchFamily="34" charset="-120"/>
              </a:rPr>
              <a:t>Handle error/rejection packets gracefully</a:t>
            </a:r>
            <a:endParaRPr lang="en-US" sz="1200" dirty="0"/>
          </a:p>
        </p:txBody>
      </p:sp>
      <p:sp>
        <p:nvSpPr>
          <p:cNvPr id="19" name="Shape 17"/>
          <p:cNvSpPr/>
          <p:nvPr/>
        </p:nvSpPr>
        <p:spPr>
          <a:xfrm>
            <a:off x="4709160" y="960120"/>
            <a:ext cx="4114800" cy="347472"/>
          </a:xfrm>
          <a:prstGeom prst="rect">
            <a:avLst/>
          </a:prstGeom>
          <a:solidFill>
            <a:srgbClr val="1B4F72"/>
          </a:solidFill>
          <a:ln w="12700">
            <a:solidFill>
              <a:srgbClr val="1B4F72"/>
            </a:solidFill>
            <a:prstDash val="solid"/>
          </a:ln>
        </p:spPr>
        <p:txBody>
          <a:bodyPr/>
          <a:lstStyle/>
          <a:p>
            <a:endParaRPr lang="en-CA"/>
          </a:p>
        </p:txBody>
      </p:sp>
      <p:sp>
        <p:nvSpPr>
          <p:cNvPr id="20" name="Text 18"/>
          <p:cNvSpPr/>
          <p:nvPr/>
        </p:nvSpPr>
        <p:spPr>
          <a:xfrm>
            <a:off x="4709160" y="960120"/>
            <a:ext cx="4114800"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Client Workflow</a:t>
            </a:r>
            <a:endParaRPr lang="en-US" sz="1300" dirty="0"/>
          </a:p>
        </p:txBody>
      </p:sp>
      <p:sp>
        <p:nvSpPr>
          <p:cNvPr id="21" name="Shape 19"/>
          <p:cNvSpPr/>
          <p:nvPr/>
        </p:nvSpPr>
        <p:spPr>
          <a:xfrm>
            <a:off x="4754880" y="1463040"/>
            <a:ext cx="329184" cy="329184"/>
          </a:xfrm>
          <a:prstGeom prst="ellipse">
            <a:avLst/>
          </a:prstGeom>
          <a:solidFill>
            <a:srgbClr val="3498DB"/>
          </a:solidFill>
          <a:ln w="12700">
            <a:solidFill>
              <a:srgbClr val="3498DB"/>
            </a:solidFill>
            <a:prstDash val="solid"/>
          </a:ln>
        </p:spPr>
        <p:txBody>
          <a:bodyPr/>
          <a:lstStyle/>
          <a:p>
            <a:endParaRPr lang="en-CA"/>
          </a:p>
        </p:txBody>
      </p:sp>
      <p:sp>
        <p:nvSpPr>
          <p:cNvPr id="22" name="Text 20"/>
          <p:cNvSpPr/>
          <p:nvPr/>
        </p:nvSpPr>
        <p:spPr>
          <a:xfrm>
            <a:off x="4754880" y="1463040"/>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3" name="Text 21"/>
          <p:cNvSpPr/>
          <p:nvPr/>
        </p:nvSpPr>
        <p:spPr>
          <a:xfrm>
            <a:off x="5166360" y="1444752"/>
            <a:ext cx="3566160" cy="411480"/>
          </a:xfrm>
          <a:prstGeom prst="rect">
            <a:avLst/>
          </a:prstGeom>
          <a:noFill/>
          <a:ln/>
        </p:spPr>
        <p:txBody>
          <a:bodyPr wrap="square" lIns="0" tIns="0" rIns="0" bIns="0" rtlCol="0" anchor="ctr"/>
          <a:lstStyle/>
          <a:p>
            <a:pPr marL="0" indent="0">
              <a:buNone/>
            </a:pPr>
            <a:r>
              <a:rPr lang="en-US" sz="1200" dirty="0">
                <a:solidFill>
                  <a:srgbClr val="ECF0F1"/>
                </a:solidFill>
                <a:latin typeface="Calibri" pitchFamily="34" charset="0"/>
                <a:ea typeface="Calibri" pitchFamily="34" charset="-122"/>
                <a:cs typeface="Calibri" pitchFamily="34" charset="-120"/>
              </a:rPr>
              <a:t>socket() + connect()</a:t>
            </a:r>
            <a:endParaRPr lang="en-US" sz="1200" dirty="0"/>
          </a:p>
        </p:txBody>
      </p:sp>
      <p:sp>
        <p:nvSpPr>
          <p:cNvPr id="24" name="Shape 22"/>
          <p:cNvSpPr/>
          <p:nvPr/>
        </p:nvSpPr>
        <p:spPr>
          <a:xfrm>
            <a:off x="4754880" y="1947672"/>
            <a:ext cx="329184" cy="329184"/>
          </a:xfrm>
          <a:prstGeom prst="ellipse">
            <a:avLst/>
          </a:prstGeom>
          <a:solidFill>
            <a:srgbClr val="1ABC9C"/>
          </a:solidFill>
          <a:ln w="12700">
            <a:solidFill>
              <a:srgbClr val="1ABC9C"/>
            </a:solidFill>
            <a:prstDash val="solid"/>
          </a:ln>
        </p:spPr>
        <p:txBody>
          <a:bodyPr/>
          <a:lstStyle/>
          <a:p>
            <a:endParaRPr lang="en-CA"/>
          </a:p>
        </p:txBody>
      </p:sp>
      <p:sp>
        <p:nvSpPr>
          <p:cNvPr id="25" name="Text 23"/>
          <p:cNvSpPr/>
          <p:nvPr/>
        </p:nvSpPr>
        <p:spPr>
          <a:xfrm>
            <a:off x="4754880" y="1947672"/>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6" name="Text 24"/>
          <p:cNvSpPr/>
          <p:nvPr/>
        </p:nvSpPr>
        <p:spPr>
          <a:xfrm>
            <a:off x="5166360" y="1929384"/>
            <a:ext cx="3566160" cy="411480"/>
          </a:xfrm>
          <a:prstGeom prst="rect">
            <a:avLst/>
          </a:prstGeom>
          <a:noFill/>
          <a:ln/>
        </p:spPr>
        <p:txBody>
          <a:bodyPr wrap="square" lIns="0" tIns="0" rIns="0" bIns="0" rtlCol="0" anchor="ctr"/>
          <a:lstStyle/>
          <a:p>
            <a:pPr marL="0" indent="0">
              <a:buNone/>
            </a:pPr>
            <a:r>
              <a:rPr lang="en-US" sz="1200" dirty="0">
                <a:solidFill>
                  <a:srgbClr val="ECF0F1"/>
                </a:solidFill>
                <a:latin typeface="Calibri" pitchFamily="34" charset="0"/>
                <a:ea typeface="Calibri" pitchFamily="34" charset="-122"/>
                <a:cs typeface="Calibri" pitchFamily="34" charset="-120"/>
              </a:rPr>
              <a:t>send(VERIFY_PACKET)</a:t>
            </a:r>
            <a:endParaRPr lang="en-US" sz="1200" dirty="0"/>
          </a:p>
        </p:txBody>
      </p:sp>
      <p:sp>
        <p:nvSpPr>
          <p:cNvPr id="27" name="Shape 25"/>
          <p:cNvSpPr/>
          <p:nvPr/>
        </p:nvSpPr>
        <p:spPr>
          <a:xfrm>
            <a:off x="4754880" y="2432304"/>
            <a:ext cx="329184" cy="329184"/>
          </a:xfrm>
          <a:prstGeom prst="ellipse">
            <a:avLst/>
          </a:prstGeom>
          <a:solidFill>
            <a:srgbClr val="27AE60"/>
          </a:solidFill>
          <a:ln w="12700">
            <a:solidFill>
              <a:srgbClr val="27AE60"/>
            </a:solidFill>
            <a:prstDash val="solid"/>
          </a:ln>
        </p:spPr>
        <p:txBody>
          <a:bodyPr/>
          <a:lstStyle/>
          <a:p>
            <a:endParaRPr lang="en-CA"/>
          </a:p>
        </p:txBody>
      </p:sp>
      <p:sp>
        <p:nvSpPr>
          <p:cNvPr id="28" name="Text 26"/>
          <p:cNvSpPr/>
          <p:nvPr/>
        </p:nvSpPr>
        <p:spPr>
          <a:xfrm>
            <a:off x="4754880" y="2432304"/>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9" name="Text 27"/>
          <p:cNvSpPr/>
          <p:nvPr/>
        </p:nvSpPr>
        <p:spPr>
          <a:xfrm>
            <a:off x="5166360" y="2414016"/>
            <a:ext cx="3566160" cy="411480"/>
          </a:xfrm>
          <a:prstGeom prst="rect">
            <a:avLst/>
          </a:prstGeom>
          <a:noFill/>
          <a:ln/>
        </p:spPr>
        <p:txBody>
          <a:bodyPr wrap="square" lIns="0" tIns="0" rIns="0" bIns="0" rtlCol="0" anchor="ctr"/>
          <a:lstStyle/>
          <a:p>
            <a:pPr marL="0" indent="0">
              <a:buNone/>
            </a:pPr>
            <a:r>
              <a:rPr lang="en-US" sz="1200" dirty="0">
                <a:solidFill>
                  <a:srgbClr val="ECF0F1"/>
                </a:solidFill>
                <a:latin typeface="Calibri" pitchFamily="34" charset="0"/>
                <a:ea typeface="Calibri" pitchFamily="34" charset="-122"/>
                <a:cs typeface="Calibri" pitchFamily="34" charset="-120"/>
              </a:rPr>
              <a:t>recv(ACK) → confirmed</a:t>
            </a:r>
            <a:endParaRPr lang="en-US" sz="1200" dirty="0"/>
          </a:p>
        </p:txBody>
      </p:sp>
      <p:sp>
        <p:nvSpPr>
          <p:cNvPr id="30" name="Shape 28"/>
          <p:cNvSpPr/>
          <p:nvPr/>
        </p:nvSpPr>
        <p:spPr>
          <a:xfrm>
            <a:off x="4754880" y="2916936"/>
            <a:ext cx="329184" cy="329184"/>
          </a:xfrm>
          <a:prstGeom prst="ellipse">
            <a:avLst/>
          </a:prstGeom>
          <a:solidFill>
            <a:srgbClr val="3498DB"/>
          </a:solidFill>
          <a:ln w="12700">
            <a:solidFill>
              <a:srgbClr val="3498DB"/>
            </a:solidFill>
            <a:prstDash val="solid"/>
          </a:ln>
        </p:spPr>
        <p:txBody>
          <a:bodyPr/>
          <a:lstStyle/>
          <a:p>
            <a:endParaRPr lang="en-CA"/>
          </a:p>
        </p:txBody>
      </p:sp>
      <p:sp>
        <p:nvSpPr>
          <p:cNvPr id="31" name="Text 29"/>
          <p:cNvSpPr/>
          <p:nvPr/>
        </p:nvSpPr>
        <p:spPr>
          <a:xfrm>
            <a:off x="4754880" y="2916936"/>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32" name="Text 30"/>
          <p:cNvSpPr/>
          <p:nvPr/>
        </p:nvSpPr>
        <p:spPr>
          <a:xfrm>
            <a:off x="5166360" y="2898648"/>
            <a:ext cx="3566160" cy="411480"/>
          </a:xfrm>
          <a:prstGeom prst="rect">
            <a:avLst/>
          </a:prstGeom>
          <a:noFill/>
          <a:ln/>
        </p:spPr>
        <p:txBody>
          <a:bodyPr wrap="square" lIns="0" tIns="0" rIns="0" bIns="0" rtlCol="0" anchor="ctr"/>
          <a:lstStyle/>
          <a:p>
            <a:pPr marL="0" indent="0">
              <a:buNone/>
            </a:pPr>
            <a:r>
              <a:rPr lang="en-US" sz="1200" dirty="0">
                <a:solidFill>
                  <a:srgbClr val="ECF0F1"/>
                </a:solidFill>
                <a:latin typeface="Calibri" pitchFamily="34" charset="0"/>
                <a:ea typeface="Calibri" pitchFamily="34" charset="-122"/>
                <a:cs typeface="Calibri" pitchFamily="34" charset="-120"/>
              </a:rPr>
              <a:t>send(SENSOR_REQUEST)</a:t>
            </a:r>
            <a:endParaRPr lang="en-US" sz="1200" dirty="0"/>
          </a:p>
        </p:txBody>
      </p:sp>
      <p:sp>
        <p:nvSpPr>
          <p:cNvPr id="33" name="Shape 31"/>
          <p:cNvSpPr/>
          <p:nvPr/>
        </p:nvSpPr>
        <p:spPr>
          <a:xfrm>
            <a:off x="4754880" y="3401568"/>
            <a:ext cx="329184" cy="329184"/>
          </a:xfrm>
          <a:prstGeom prst="ellipse">
            <a:avLst/>
          </a:prstGeom>
          <a:solidFill>
            <a:srgbClr val="1ABC9C"/>
          </a:solidFill>
          <a:ln w="12700">
            <a:solidFill>
              <a:srgbClr val="1ABC9C"/>
            </a:solidFill>
            <a:prstDash val="solid"/>
          </a:ln>
        </p:spPr>
        <p:txBody>
          <a:bodyPr/>
          <a:lstStyle/>
          <a:p>
            <a:endParaRPr lang="en-CA"/>
          </a:p>
        </p:txBody>
      </p:sp>
      <p:sp>
        <p:nvSpPr>
          <p:cNvPr id="34" name="Text 32"/>
          <p:cNvSpPr/>
          <p:nvPr/>
        </p:nvSpPr>
        <p:spPr>
          <a:xfrm>
            <a:off x="4754880" y="3401568"/>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35" name="Text 33"/>
          <p:cNvSpPr/>
          <p:nvPr/>
        </p:nvSpPr>
        <p:spPr>
          <a:xfrm>
            <a:off x="5166360" y="3383280"/>
            <a:ext cx="3566160" cy="411480"/>
          </a:xfrm>
          <a:prstGeom prst="rect">
            <a:avLst/>
          </a:prstGeom>
          <a:noFill/>
          <a:ln/>
        </p:spPr>
        <p:txBody>
          <a:bodyPr wrap="square" lIns="0" tIns="0" rIns="0" bIns="0" rtlCol="0" anchor="ctr"/>
          <a:lstStyle/>
          <a:p>
            <a:pPr marL="0" indent="0">
              <a:buNone/>
            </a:pPr>
            <a:r>
              <a:rPr lang="en-US" sz="1200" dirty="0">
                <a:solidFill>
                  <a:srgbClr val="ECF0F1"/>
                </a:solidFill>
                <a:latin typeface="Calibri" pitchFamily="34" charset="0"/>
                <a:ea typeface="Calibri" pitchFamily="34" charset="-122"/>
                <a:cs typeface="Calibri" pitchFamily="34" charset="-120"/>
              </a:rPr>
              <a:t>recv + display sensor data</a:t>
            </a:r>
            <a:endParaRPr lang="en-US" sz="1200" dirty="0"/>
          </a:p>
        </p:txBody>
      </p:sp>
      <p:sp>
        <p:nvSpPr>
          <p:cNvPr id="36" name="Shape 34"/>
          <p:cNvSpPr/>
          <p:nvPr/>
        </p:nvSpPr>
        <p:spPr>
          <a:xfrm>
            <a:off x="4754880" y="3886200"/>
            <a:ext cx="329184" cy="329184"/>
          </a:xfrm>
          <a:prstGeom prst="ellipse">
            <a:avLst/>
          </a:prstGeom>
          <a:solidFill>
            <a:srgbClr val="F39C12"/>
          </a:solidFill>
          <a:ln w="12700">
            <a:solidFill>
              <a:srgbClr val="F39C12"/>
            </a:solidFill>
            <a:prstDash val="solid"/>
          </a:ln>
        </p:spPr>
        <p:txBody>
          <a:bodyPr/>
          <a:lstStyle/>
          <a:p>
            <a:endParaRPr lang="en-CA"/>
          </a:p>
        </p:txBody>
      </p:sp>
      <p:sp>
        <p:nvSpPr>
          <p:cNvPr id="37" name="Text 35"/>
          <p:cNvSpPr/>
          <p:nvPr/>
        </p:nvSpPr>
        <p:spPr>
          <a:xfrm>
            <a:off x="4754880" y="3886200"/>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8" name="Text 36"/>
          <p:cNvSpPr/>
          <p:nvPr/>
        </p:nvSpPr>
        <p:spPr>
          <a:xfrm>
            <a:off x="5166360" y="3867912"/>
            <a:ext cx="3566160" cy="411480"/>
          </a:xfrm>
          <a:prstGeom prst="rect">
            <a:avLst/>
          </a:prstGeom>
          <a:noFill/>
          <a:ln/>
        </p:spPr>
        <p:txBody>
          <a:bodyPr wrap="square" lIns="0" tIns="0" rIns="0" bIns="0" rtlCol="0" anchor="ctr"/>
          <a:lstStyle/>
          <a:p>
            <a:pPr marL="0" indent="0">
              <a:buNone/>
            </a:pPr>
            <a:r>
              <a:rPr lang="en-US" sz="1200" dirty="0">
                <a:solidFill>
                  <a:srgbClr val="ECF0F1"/>
                </a:solidFill>
                <a:latin typeface="Calibri" pitchFamily="34" charset="0"/>
                <a:ea typeface="Calibri" pitchFamily="34" charset="-122"/>
                <a:cs typeface="Calibri" pitchFamily="34" charset="-120"/>
              </a:rPr>
              <a:t>send(FILE_REQUEST)</a:t>
            </a:r>
            <a:endParaRPr lang="en-US" sz="1200" dirty="0"/>
          </a:p>
        </p:txBody>
      </p:sp>
      <p:sp>
        <p:nvSpPr>
          <p:cNvPr id="39" name="Shape 37"/>
          <p:cNvSpPr/>
          <p:nvPr/>
        </p:nvSpPr>
        <p:spPr>
          <a:xfrm>
            <a:off x="4754880" y="4370832"/>
            <a:ext cx="329184" cy="329184"/>
          </a:xfrm>
          <a:prstGeom prst="ellipse">
            <a:avLst/>
          </a:prstGeom>
          <a:solidFill>
            <a:srgbClr val="F39C12"/>
          </a:solidFill>
          <a:ln w="12700">
            <a:solidFill>
              <a:srgbClr val="F39C12"/>
            </a:solidFill>
            <a:prstDash val="solid"/>
          </a:ln>
        </p:spPr>
        <p:txBody>
          <a:bodyPr/>
          <a:lstStyle/>
          <a:p>
            <a:endParaRPr lang="en-CA"/>
          </a:p>
        </p:txBody>
      </p:sp>
      <p:sp>
        <p:nvSpPr>
          <p:cNvPr id="40" name="Text 38"/>
          <p:cNvSpPr/>
          <p:nvPr/>
        </p:nvSpPr>
        <p:spPr>
          <a:xfrm>
            <a:off x="4754880" y="4370832"/>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41" name="Text 39"/>
          <p:cNvSpPr/>
          <p:nvPr/>
        </p:nvSpPr>
        <p:spPr>
          <a:xfrm>
            <a:off x="5166360" y="4352544"/>
            <a:ext cx="3566160" cy="411480"/>
          </a:xfrm>
          <a:prstGeom prst="rect">
            <a:avLst/>
          </a:prstGeom>
          <a:noFill/>
          <a:ln/>
        </p:spPr>
        <p:txBody>
          <a:bodyPr wrap="square" lIns="0" tIns="0" rIns="0" bIns="0" rtlCol="0" anchor="ctr"/>
          <a:lstStyle/>
          <a:p>
            <a:pPr marL="0" indent="0">
              <a:buNone/>
            </a:pPr>
            <a:r>
              <a:rPr lang="en-US" sz="1200" dirty="0">
                <a:solidFill>
                  <a:srgbClr val="ECF0F1"/>
                </a:solidFill>
                <a:latin typeface="Calibri" pitchFamily="34" charset="0"/>
                <a:ea typeface="Calibri" pitchFamily="34" charset="-122"/>
                <a:cs typeface="Calibri" pitchFamily="34" charset="-120"/>
              </a:rPr>
              <a:t>recv chunks → reassemble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ABC9C"/>
          </a:solidFill>
          <a:ln w="12700">
            <a:solidFill>
              <a:srgbClr val="1ABC9C"/>
            </a:solidFill>
            <a:prstDash val="solid"/>
          </a:ln>
        </p:spPr>
        <p:txBody>
          <a:bodyPr/>
          <a:lstStyle/>
          <a:p>
            <a:endParaRPr lang="en-CA"/>
          </a:p>
        </p:txBody>
      </p:sp>
      <p:sp>
        <p:nvSpPr>
          <p:cNvPr id="3" name="Text 1"/>
          <p:cNvSpPr/>
          <p:nvPr/>
        </p:nvSpPr>
        <p:spPr>
          <a:xfrm>
            <a:off x="457200" y="164592"/>
            <a:ext cx="8229600" cy="502920"/>
          </a:xfrm>
          <a:prstGeom prst="rect">
            <a:avLst/>
          </a:prstGeom>
          <a:noFill/>
          <a:ln/>
        </p:spPr>
        <p:txBody>
          <a:bodyPr wrap="square" lIns="0" tIns="0" rIns="0" bIns="0" rtlCol="0" anchor="ctr"/>
          <a:lstStyle/>
          <a:p>
            <a:pPr marL="0" indent="0" algn="l">
              <a:buNone/>
            </a:pPr>
            <a:r>
              <a:rPr lang="en-US" sz="2600" b="1" dirty="0">
                <a:solidFill>
                  <a:srgbClr val="FFFFFF"/>
                </a:solidFill>
                <a:latin typeface="Calibri" pitchFamily="34" charset="0"/>
                <a:ea typeface="Calibri" pitchFamily="34" charset="-122"/>
                <a:cs typeface="Calibri" pitchFamily="34" charset="-120"/>
              </a:rPr>
              <a:t>Server Implementation</a:t>
            </a:r>
            <a:endParaRPr lang="en-US" sz="2600" dirty="0"/>
          </a:p>
        </p:txBody>
      </p:sp>
      <p:sp>
        <p:nvSpPr>
          <p:cNvPr id="4" name="Shape 2"/>
          <p:cNvSpPr/>
          <p:nvPr/>
        </p:nvSpPr>
        <p:spPr>
          <a:xfrm>
            <a:off x="457200" y="713232"/>
            <a:ext cx="8229600" cy="22860"/>
          </a:xfrm>
          <a:prstGeom prst="rect">
            <a:avLst/>
          </a:prstGeom>
          <a:solidFill>
            <a:srgbClr val="3498DB"/>
          </a:solidFill>
          <a:ln w="12700">
            <a:solidFill>
              <a:srgbClr val="3498DB"/>
            </a:solidFill>
            <a:prstDash val="solid"/>
          </a:ln>
        </p:spPr>
        <p:txBody>
          <a:bodyPr/>
          <a:lstStyle/>
          <a:p>
            <a:endParaRPr lang="en-CA"/>
          </a:p>
        </p:txBody>
      </p:sp>
      <p:sp>
        <p:nvSpPr>
          <p:cNvPr id="6" name="Text 4"/>
          <p:cNvSpPr/>
          <p:nvPr/>
        </p:nvSpPr>
        <p:spPr>
          <a:xfrm>
            <a:off x="365760" y="699516"/>
            <a:ext cx="1848394"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Server Responsibilities</a:t>
            </a:r>
            <a:endParaRPr lang="en-US" sz="1300" dirty="0"/>
          </a:p>
        </p:txBody>
      </p:sp>
      <p:sp>
        <p:nvSpPr>
          <p:cNvPr id="42" name="Text 40"/>
          <p:cNvSpPr/>
          <p:nvPr/>
        </p:nvSpPr>
        <p:spPr>
          <a:xfrm>
            <a:off x="4800600" y="4617720"/>
            <a:ext cx="3931920" cy="347472"/>
          </a:xfrm>
          <a:prstGeom prst="rect">
            <a:avLst/>
          </a:prstGeom>
          <a:noFill/>
          <a:ln/>
        </p:spPr>
        <p:txBody>
          <a:bodyPr wrap="square" lIns="0" tIns="0" rIns="0" bIns="0" rtlCol="0" anchor="ctr"/>
          <a:lstStyle/>
          <a:p>
            <a:pPr marL="0" indent="0">
              <a:buNone/>
            </a:pPr>
            <a:endParaRPr lang="en-US" sz="1100" dirty="0"/>
          </a:p>
        </p:txBody>
      </p:sp>
      <p:sp>
        <p:nvSpPr>
          <p:cNvPr id="43" name="Text 6"/>
          <p:cNvSpPr/>
          <p:nvPr/>
        </p:nvSpPr>
        <p:spPr>
          <a:xfrm>
            <a:off x="485939" y="2355398"/>
            <a:ext cx="4544568" cy="1640123"/>
          </a:xfrm>
          <a:prstGeom prst="rect">
            <a:avLst/>
          </a:prstGeom>
          <a:noFill/>
          <a:ln/>
        </p:spPr>
        <p:txBody>
          <a:bodyPr wrap="square" lIns="0" tIns="0" rIns="0" bIns="0" rtlCol="0" anchor="ctr"/>
          <a:lstStyle/>
          <a:p>
            <a:pPr marL="171450" indent="-171450">
              <a:lnSpc>
                <a:spcPct val="200000"/>
              </a:lnSpc>
              <a:buFont typeface="Arial" panose="020B0604020202020204" pitchFamily="34" charset="0"/>
              <a:buChar char="•"/>
            </a:pPr>
            <a:r>
              <a:rPr lang="en-US" sz="1200" dirty="0">
                <a:solidFill>
                  <a:srgbClr val="ECF0F1"/>
                </a:solidFill>
                <a:latin typeface="Calibri" pitchFamily="34" charset="0"/>
                <a:ea typeface="Calibri" pitchFamily="34" charset="-122"/>
                <a:cs typeface="Calibri" pitchFamily="34" charset="-120"/>
              </a:rPr>
              <a:t>Listen on a designated TCP port for connections</a:t>
            </a:r>
          </a:p>
          <a:p>
            <a:pPr marL="171450" indent="-171450">
              <a:lnSpc>
                <a:spcPct val="200000"/>
              </a:lnSpc>
              <a:buFont typeface="Arial" panose="020B0604020202020204" pitchFamily="34" charset="0"/>
              <a:buChar char="•"/>
            </a:pPr>
            <a:r>
              <a:rPr lang="en-US" sz="1200" dirty="0">
                <a:solidFill>
                  <a:srgbClr val="ECF0F1"/>
                </a:solidFill>
                <a:latin typeface="Calibri" pitchFamily="34" charset="0"/>
                <a:ea typeface="Calibri" pitchFamily="34" charset="-122"/>
                <a:cs typeface="Calibri" pitchFamily="34" charset="-120"/>
              </a:rPr>
              <a:t>Enforce verification before accepting commands</a:t>
            </a:r>
          </a:p>
          <a:p>
            <a:pPr marL="171450" indent="-171450">
              <a:lnSpc>
                <a:spcPct val="200000"/>
              </a:lnSpc>
              <a:buFont typeface="Arial" panose="020B0604020202020204" pitchFamily="34" charset="0"/>
              <a:buChar char="•"/>
            </a:pPr>
            <a:r>
              <a:rPr lang="en-US" sz="1200" dirty="0">
                <a:solidFill>
                  <a:srgbClr val="ECF0F1"/>
                </a:solidFill>
                <a:latin typeface="Calibri" pitchFamily="34" charset="0"/>
                <a:ea typeface="Calibri" pitchFamily="34" charset="-122"/>
                <a:cs typeface="Calibri" pitchFamily="34" charset="-120"/>
              </a:rPr>
              <a:t>Respond with structured sensor data packets</a:t>
            </a:r>
          </a:p>
          <a:p>
            <a:pPr marL="171450" indent="-171450">
              <a:lnSpc>
                <a:spcPct val="200000"/>
              </a:lnSpc>
              <a:buFont typeface="Arial" panose="020B0604020202020204" pitchFamily="34" charset="0"/>
              <a:buChar char="•"/>
            </a:pPr>
            <a:r>
              <a:rPr lang="en-US" sz="1200" dirty="0">
                <a:solidFill>
                  <a:srgbClr val="ECF0F1"/>
                </a:solidFill>
                <a:latin typeface="Calibri" pitchFamily="34" charset="0"/>
                <a:ea typeface="Calibri" pitchFamily="34" charset="-122"/>
                <a:cs typeface="Calibri" pitchFamily="34" charset="-120"/>
              </a:rPr>
              <a:t>Reject commands sent before VERIFY (return error packet)</a:t>
            </a:r>
          </a:p>
          <a:p>
            <a:pPr marL="171450" indent="-171450">
              <a:lnSpc>
                <a:spcPct val="200000"/>
              </a:lnSpc>
              <a:buFont typeface="Arial" panose="020B0604020202020204" pitchFamily="34" charset="0"/>
              <a:buChar char="•"/>
            </a:pPr>
            <a:r>
              <a:rPr lang="en-US" sz="1200" dirty="0">
                <a:solidFill>
                  <a:srgbClr val="ECF0F1"/>
                </a:solidFill>
                <a:latin typeface="Calibri" pitchFamily="34" charset="0"/>
                <a:ea typeface="Calibri" pitchFamily="34" charset="-122"/>
                <a:cs typeface="Calibri" pitchFamily="34" charset="-120"/>
              </a:rPr>
              <a:t>Send ACK packets to confirm receipt</a:t>
            </a:r>
          </a:p>
          <a:p>
            <a:pPr marL="171450" indent="-171450">
              <a:lnSpc>
                <a:spcPct val="200000"/>
              </a:lnSpc>
              <a:buFont typeface="Arial" panose="020B0604020202020204" pitchFamily="34" charset="0"/>
              <a:buChar char="•"/>
            </a:pPr>
            <a:r>
              <a:rPr lang="en-US" sz="1200" dirty="0">
                <a:solidFill>
                  <a:srgbClr val="ECF0F1"/>
                </a:solidFill>
                <a:latin typeface="Calibri" pitchFamily="34" charset="0"/>
                <a:ea typeface="Calibri" pitchFamily="34" charset="-122"/>
                <a:cs typeface="Calibri" pitchFamily="34" charset="-120"/>
              </a:rPr>
              <a:t>Manage client lifecycle via Finite State Machine</a:t>
            </a:r>
            <a:endParaRPr lang="en-US" sz="1200" dirty="0"/>
          </a:p>
          <a:p>
            <a:pPr marL="171450" indent="-171450">
              <a:lnSpc>
                <a:spcPct val="200000"/>
              </a:lnSpc>
              <a:buFont typeface="Arial" panose="020B0604020202020204" pitchFamily="34" charset="0"/>
              <a:buChar char="•"/>
            </a:pPr>
            <a:endParaRPr lang="en-US" sz="1200" dirty="0"/>
          </a:p>
          <a:p>
            <a:pPr marL="171450" indent="-171450">
              <a:lnSpc>
                <a:spcPct val="200000"/>
              </a:lnSpc>
              <a:buFont typeface="Arial" panose="020B0604020202020204" pitchFamily="34" charset="0"/>
              <a:buChar char="•"/>
            </a:pPr>
            <a:endParaRPr lang="en-US" sz="1200" dirty="0"/>
          </a:p>
          <a:p>
            <a:pPr marL="171450" indent="-171450">
              <a:lnSpc>
                <a:spcPct val="200000"/>
              </a:lnSpc>
              <a:buFont typeface="Arial" panose="020B0604020202020204" pitchFamily="34" charset="0"/>
              <a:buChar char="•"/>
            </a:pPr>
            <a:endParaRPr lang="en-US" sz="1200" dirty="0"/>
          </a:p>
          <a:p>
            <a:pPr marL="171450" indent="-171450">
              <a:lnSpc>
                <a:spcPct val="200000"/>
              </a:lnSpc>
              <a:buFont typeface="Arial" panose="020B0604020202020204" pitchFamily="34" charset="0"/>
              <a:buChar char="•"/>
            </a:pPr>
            <a:endParaRPr lang="en-US" sz="1200" dirty="0"/>
          </a:p>
          <a:p>
            <a:pPr marL="171450" indent="-171450">
              <a:lnSpc>
                <a:spcPct val="200000"/>
              </a:lnSpc>
              <a:buFont typeface="Arial" panose="020B0604020202020204" pitchFamily="34" charset="0"/>
              <a:buChar char="•"/>
            </a:pPr>
            <a:endParaRPr lang="en-US" sz="1200" dirty="0">
              <a:solidFill>
                <a:srgbClr val="ECF0F1"/>
              </a:solidFill>
              <a:latin typeface="Calibri" pitchFamily="34" charset="0"/>
              <a:ea typeface="Calibri" pitchFamily="34" charset="-122"/>
              <a:cs typeface="Calibri" pitchFamily="34" charset="-120"/>
            </a:endParaRPr>
          </a:p>
          <a:p>
            <a:pPr marL="171450" indent="-171450">
              <a:lnSpc>
                <a:spcPct val="200000"/>
              </a:lnSpc>
              <a:buFont typeface="Arial" panose="020B0604020202020204" pitchFamily="34" charset="0"/>
              <a:buChar char="•"/>
            </a:pPr>
            <a:endParaRPr lang="en-US" sz="1200" dirty="0"/>
          </a:p>
        </p:txBody>
      </p:sp>
      <p:sp>
        <p:nvSpPr>
          <p:cNvPr id="44" name="Text 8"/>
          <p:cNvSpPr/>
          <p:nvPr/>
        </p:nvSpPr>
        <p:spPr>
          <a:xfrm>
            <a:off x="576072" y="1383356"/>
            <a:ext cx="3657600" cy="457200"/>
          </a:xfrm>
          <a:prstGeom prst="rect">
            <a:avLst/>
          </a:prstGeom>
          <a:noFill/>
          <a:ln/>
        </p:spPr>
        <p:txBody>
          <a:bodyPr wrap="square" lIns="0" tIns="0" rIns="0" bIns="0" rtlCol="0" anchor="ctr"/>
          <a:lstStyle/>
          <a:p>
            <a:pPr marL="0" indent="0">
              <a:buNone/>
            </a:pPr>
            <a:endParaRPr lang="en-US" sz="1200" dirty="0"/>
          </a:p>
        </p:txBody>
      </p:sp>
      <p:sp>
        <p:nvSpPr>
          <p:cNvPr id="45" name="Text 10"/>
          <p:cNvSpPr/>
          <p:nvPr/>
        </p:nvSpPr>
        <p:spPr>
          <a:xfrm>
            <a:off x="576072" y="1725930"/>
            <a:ext cx="3657600" cy="457200"/>
          </a:xfrm>
          <a:prstGeom prst="rect">
            <a:avLst/>
          </a:prstGeom>
          <a:noFill/>
          <a:ln/>
        </p:spPr>
        <p:txBody>
          <a:bodyPr wrap="square" lIns="0" tIns="0" rIns="0" bIns="0" rtlCol="0" anchor="ctr"/>
          <a:lstStyle/>
          <a:p>
            <a:pPr marL="0" indent="0">
              <a:buNone/>
            </a:pPr>
            <a:endParaRPr lang="en-US" sz="1200" dirty="0"/>
          </a:p>
        </p:txBody>
      </p:sp>
      <p:sp>
        <p:nvSpPr>
          <p:cNvPr id="46" name="Text 12"/>
          <p:cNvSpPr/>
          <p:nvPr/>
        </p:nvSpPr>
        <p:spPr>
          <a:xfrm>
            <a:off x="576072" y="2014130"/>
            <a:ext cx="3657600" cy="457200"/>
          </a:xfrm>
          <a:prstGeom prst="rect">
            <a:avLst/>
          </a:prstGeom>
          <a:noFill/>
          <a:ln/>
        </p:spPr>
        <p:txBody>
          <a:bodyPr wrap="square" lIns="0" tIns="0" rIns="0" bIns="0" rtlCol="0" anchor="ctr"/>
          <a:lstStyle/>
          <a:p>
            <a:pPr marL="0" indent="0">
              <a:buNone/>
            </a:pPr>
            <a:endParaRPr lang="en-US" sz="1200" dirty="0"/>
          </a:p>
        </p:txBody>
      </p:sp>
      <p:sp>
        <p:nvSpPr>
          <p:cNvPr id="47" name="Text 14"/>
          <p:cNvSpPr/>
          <p:nvPr/>
        </p:nvSpPr>
        <p:spPr>
          <a:xfrm>
            <a:off x="576072" y="2355398"/>
            <a:ext cx="3657600" cy="457200"/>
          </a:xfrm>
          <a:prstGeom prst="rect">
            <a:avLst/>
          </a:prstGeom>
          <a:noFill/>
          <a:ln/>
        </p:spPr>
        <p:txBody>
          <a:bodyPr wrap="square" lIns="0" tIns="0" rIns="0" bIns="0" rtlCol="0" anchor="ctr"/>
          <a:lstStyle/>
          <a:p>
            <a:pPr marL="0" indent="0">
              <a:buNone/>
            </a:pPr>
            <a:endParaRPr lang="en-US" sz="1200" dirty="0"/>
          </a:p>
        </p:txBody>
      </p:sp>
      <p:sp>
        <p:nvSpPr>
          <p:cNvPr id="48" name="Text 16"/>
          <p:cNvSpPr/>
          <p:nvPr/>
        </p:nvSpPr>
        <p:spPr>
          <a:xfrm>
            <a:off x="576072" y="2683927"/>
            <a:ext cx="3657600" cy="457200"/>
          </a:xfrm>
          <a:prstGeom prst="rect">
            <a:avLst/>
          </a:prstGeom>
          <a:noFill/>
          <a:ln/>
        </p:spPr>
        <p:txBody>
          <a:bodyPr wrap="square" lIns="0" tIns="0" rIns="0" bIns="0" rtlCol="0" anchor="ctr"/>
          <a:lstStyle/>
          <a:p>
            <a:pPr marL="0" indent="0">
              <a:buNone/>
            </a:pPr>
            <a:endParaRPr lang="en-US" sz="1200" dirty="0"/>
          </a:p>
        </p:txBody>
      </p:sp>
      <p:sp>
        <p:nvSpPr>
          <p:cNvPr id="49" name="Text 18"/>
          <p:cNvSpPr/>
          <p:nvPr/>
        </p:nvSpPr>
        <p:spPr>
          <a:xfrm>
            <a:off x="634855" y="3141127"/>
            <a:ext cx="3657600" cy="457200"/>
          </a:xfrm>
          <a:prstGeom prst="rect">
            <a:avLst/>
          </a:prstGeom>
          <a:noFill/>
          <a:ln/>
        </p:spPr>
        <p:txBody>
          <a:bodyPr wrap="square" lIns="0" tIns="0" rIns="0" bIns="0" rtlCol="0" anchor="ctr"/>
          <a:lstStyle/>
          <a:p>
            <a:pPr marL="0" indent="0">
              <a:buNone/>
            </a:pP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a:extLst>
            <a:ext uri="{FF2B5EF4-FFF2-40B4-BE49-F238E27FC236}">
              <a16:creationId xmlns:a16="http://schemas.microsoft.com/office/drawing/2014/main" id="{8B99F84B-280A-6345-7050-BA95AF3525B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DDFEE28-A66A-863C-3F9B-DA75F8DC4E77}"/>
              </a:ext>
            </a:extLst>
          </p:cNvPr>
          <p:cNvSpPr/>
          <p:nvPr/>
        </p:nvSpPr>
        <p:spPr>
          <a:xfrm>
            <a:off x="0" y="0"/>
            <a:ext cx="9144000" cy="73152"/>
          </a:xfrm>
          <a:prstGeom prst="rect">
            <a:avLst/>
          </a:prstGeom>
          <a:solidFill>
            <a:srgbClr val="1ABC9C"/>
          </a:solidFill>
          <a:ln w="12700">
            <a:solidFill>
              <a:srgbClr val="1ABC9C"/>
            </a:solidFill>
            <a:prstDash val="solid"/>
          </a:ln>
        </p:spPr>
        <p:txBody>
          <a:bodyPr/>
          <a:lstStyle/>
          <a:p>
            <a:endParaRPr lang="en-CA"/>
          </a:p>
        </p:txBody>
      </p:sp>
      <p:sp>
        <p:nvSpPr>
          <p:cNvPr id="3" name="Text 1">
            <a:extLst>
              <a:ext uri="{FF2B5EF4-FFF2-40B4-BE49-F238E27FC236}">
                <a16:creationId xmlns:a16="http://schemas.microsoft.com/office/drawing/2014/main" id="{4638C9AF-CD97-644B-A0DE-D1D318EA90BB}"/>
              </a:ext>
            </a:extLst>
          </p:cNvPr>
          <p:cNvSpPr/>
          <p:nvPr/>
        </p:nvSpPr>
        <p:spPr>
          <a:xfrm>
            <a:off x="457200" y="164592"/>
            <a:ext cx="8229600" cy="502920"/>
          </a:xfrm>
          <a:prstGeom prst="rect">
            <a:avLst/>
          </a:prstGeom>
          <a:noFill/>
          <a:ln/>
        </p:spPr>
        <p:txBody>
          <a:bodyPr wrap="square" lIns="0" tIns="0" rIns="0" bIns="0" rtlCol="0" anchor="ctr"/>
          <a:lstStyle/>
          <a:p>
            <a:pPr marL="0" indent="0" algn="l">
              <a:buNone/>
            </a:pPr>
            <a:r>
              <a:rPr lang="en-US" sz="2600" b="1" dirty="0">
                <a:solidFill>
                  <a:srgbClr val="FFFFFF"/>
                </a:solidFill>
                <a:latin typeface="Calibri" pitchFamily="34" charset="0"/>
                <a:ea typeface="Calibri" pitchFamily="34" charset="-122"/>
                <a:cs typeface="Calibri" pitchFamily="34" charset="-120"/>
              </a:rPr>
              <a:t>Server State Machine</a:t>
            </a:r>
            <a:endParaRPr lang="en-US" sz="2600" dirty="0"/>
          </a:p>
        </p:txBody>
      </p:sp>
      <p:sp>
        <p:nvSpPr>
          <p:cNvPr id="4" name="Shape 2">
            <a:extLst>
              <a:ext uri="{FF2B5EF4-FFF2-40B4-BE49-F238E27FC236}">
                <a16:creationId xmlns:a16="http://schemas.microsoft.com/office/drawing/2014/main" id="{923DACA5-A33F-F931-D0D0-D6451CF1E5D8}"/>
              </a:ext>
            </a:extLst>
          </p:cNvPr>
          <p:cNvSpPr/>
          <p:nvPr/>
        </p:nvSpPr>
        <p:spPr>
          <a:xfrm>
            <a:off x="457200" y="713232"/>
            <a:ext cx="8229600" cy="22860"/>
          </a:xfrm>
          <a:prstGeom prst="rect">
            <a:avLst/>
          </a:prstGeom>
          <a:solidFill>
            <a:srgbClr val="3498DB"/>
          </a:solidFill>
          <a:ln w="12700">
            <a:solidFill>
              <a:srgbClr val="3498DB"/>
            </a:solidFill>
            <a:prstDash val="solid"/>
          </a:ln>
        </p:spPr>
        <p:txBody>
          <a:bodyPr/>
          <a:lstStyle/>
          <a:p>
            <a:endParaRPr lang="en-CA"/>
          </a:p>
        </p:txBody>
      </p:sp>
      <p:sp>
        <p:nvSpPr>
          <p:cNvPr id="20" name="Text 18">
            <a:extLst>
              <a:ext uri="{FF2B5EF4-FFF2-40B4-BE49-F238E27FC236}">
                <a16:creationId xmlns:a16="http://schemas.microsoft.com/office/drawing/2014/main" id="{0F5E3288-1958-A98B-8733-02B08E41EFA3}"/>
              </a:ext>
            </a:extLst>
          </p:cNvPr>
          <p:cNvSpPr/>
          <p:nvPr/>
        </p:nvSpPr>
        <p:spPr>
          <a:xfrm>
            <a:off x="713232" y="4498848"/>
            <a:ext cx="3657600" cy="457200"/>
          </a:xfrm>
          <a:prstGeom prst="rect">
            <a:avLst/>
          </a:prstGeom>
          <a:noFill/>
          <a:ln/>
        </p:spPr>
        <p:txBody>
          <a:bodyPr wrap="square" lIns="0" tIns="0" rIns="0" bIns="0" rtlCol="0" anchor="ctr"/>
          <a:lstStyle/>
          <a:p>
            <a:pPr marL="0" indent="0">
              <a:buNone/>
            </a:pPr>
            <a:endParaRPr lang="en-US" sz="1200" dirty="0"/>
          </a:p>
        </p:txBody>
      </p:sp>
      <p:sp>
        <p:nvSpPr>
          <p:cNvPr id="22" name="Text 20">
            <a:extLst>
              <a:ext uri="{FF2B5EF4-FFF2-40B4-BE49-F238E27FC236}">
                <a16:creationId xmlns:a16="http://schemas.microsoft.com/office/drawing/2014/main" id="{3F1F7D54-D56D-A62C-0DC0-52DF67C92CC8}"/>
              </a:ext>
            </a:extLst>
          </p:cNvPr>
          <p:cNvSpPr/>
          <p:nvPr/>
        </p:nvSpPr>
        <p:spPr>
          <a:xfrm>
            <a:off x="-118872" y="700170"/>
            <a:ext cx="5321808" cy="347472"/>
          </a:xfrm>
          <a:prstGeom prst="rect">
            <a:avLst/>
          </a:prstGeom>
          <a:noFill/>
          <a:ln/>
        </p:spPr>
        <p:txBody>
          <a:bodyPr wrap="square" lIns="0" tIns="0" rIns="0" bIns="0" rtlCol="0" anchor="ctr"/>
          <a:lstStyle/>
          <a:p>
            <a:pPr marL="0" indent="0" algn="ctr">
              <a:buNone/>
            </a:pPr>
            <a:r>
              <a:rPr lang="en-US" sz="1300" b="1" dirty="0">
                <a:solidFill>
                  <a:schemeClr val="bg1"/>
                </a:solidFill>
                <a:latin typeface="Calibri" pitchFamily="34" charset="0"/>
                <a:ea typeface="Calibri" pitchFamily="34" charset="-122"/>
                <a:cs typeface="Calibri" pitchFamily="34" charset="-120"/>
              </a:rPr>
              <a:t>Operational states used to control valid communication flow.</a:t>
            </a:r>
            <a:endParaRPr lang="en-US" sz="1300" dirty="0">
              <a:solidFill>
                <a:schemeClr val="bg1"/>
              </a:solidFill>
            </a:endParaRPr>
          </a:p>
        </p:txBody>
      </p:sp>
      <p:sp>
        <p:nvSpPr>
          <p:cNvPr id="42" name="Text 40">
            <a:extLst>
              <a:ext uri="{FF2B5EF4-FFF2-40B4-BE49-F238E27FC236}">
                <a16:creationId xmlns:a16="http://schemas.microsoft.com/office/drawing/2014/main" id="{88346571-04E6-5218-1A16-EAB997C94758}"/>
              </a:ext>
            </a:extLst>
          </p:cNvPr>
          <p:cNvSpPr/>
          <p:nvPr/>
        </p:nvSpPr>
        <p:spPr>
          <a:xfrm>
            <a:off x="4800600" y="4617720"/>
            <a:ext cx="3931920" cy="347472"/>
          </a:xfrm>
          <a:prstGeom prst="rect">
            <a:avLst/>
          </a:prstGeom>
          <a:noFill/>
          <a:ln/>
        </p:spPr>
        <p:txBody>
          <a:bodyPr wrap="square" lIns="0" tIns="0" rIns="0" bIns="0" rtlCol="0" anchor="ctr"/>
          <a:lstStyle/>
          <a:p>
            <a:pPr marL="0" indent="0">
              <a:buNone/>
            </a:pPr>
            <a:endParaRPr lang="en-US" sz="1100" dirty="0"/>
          </a:p>
        </p:txBody>
      </p:sp>
      <p:sp>
        <p:nvSpPr>
          <p:cNvPr id="41" name="TextBox 40">
            <a:extLst>
              <a:ext uri="{FF2B5EF4-FFF2-40B4-BE49-F238E27FC236}">
                <a16:creationId xmlns:a16="http://schemas.microsoft.com/office/drawing/2014/main" id="{DAE5FA8B-FB34-1E22-0E03-BA8BD994DF7A}"/>
              </a:ext>
            </a:extLst>
          </p:cNvPr>
          <p:cNvSpPr txBox="1"/>
          <p:nvPr/>
        </p:nvSpPr>
        <p:spPr>
          <a:xfrm>
            <a:off x="411480" y="993477"/>
            <a:ext cx="5995851" cy="3733971"/>
          </a:xfrm>
          <a:prstGeom prst="rect">
            <a:avLst/>
          </a:prstGeom>
          <a:noFill/>
        </p:spPr>
        <p:txBody>
          <a:bodyPr wrap="square" rtlCol="0">
            <a:spAutoFit/>
          </a:bodyPr>
          <a:lstStyle/>
          <a:p>
            <a:pPr marL="285750" indent="-285750">
              <a:lnSpc>
                <a:spcPct val="200000"/>
              </a:lnSpc>
              <a:buFont typeface="Arial" panose="020B0604020202020204" pitchFamily="34" charset="0"/>
              <a:buChar char="•"/>
            </a:pPr>
            <a:r>
              <a:rPr lang="en-CA" sz="1200" b="1" dirty="0">
                <a:solidFill>
                  <a:schemeClr val="bg1"/>
                </a:solidFill>
              </a:rPr>
              <a:t>WAITING_FOR_CONNECTION </a:t>
            </a:r>
            <a:r>
              <a:rPr lang="en-CA" sz="1200" dirty="0">
                <a:solidFill>
                  <a:schemeClr val="bg1"/>
                </a:solidFill>
              </a:rPr>
              <a:t>: Server is listening for an incoming client connection.</a:t>
            </a:r>
          </a:p>
          <a:p>
            <a:pPr marL="285750" indent="-285750">
              <a:lnSpc>
                <a:spcPct val="200000"/>
              </a:lnSpc>
              <a:buFont typeface="Arial" panose="020B0604020202020204" pitchFamily="34" charset="0"/>
              <a:buChar char="•"/>
            </a:pPr>
            <a:r>
              <a:rPr lang="en-CA" sz="1200" b="1" dirty="0">
                <a:solidFill>
                  <a:schemeClr val="bg1"/>
                </a:solidFill>
              </a:rPr>
              <a:t>CONNECTED</a:t>
            </a:r>
            <a:r>
              <a:rPr lang="en-CA" sz="1200" dirty="0">
                <a:solidFill>
                  <a:schemeClr val="bg1"/>
                </a:solidFill>
              </a:rPr>
              <a:t> : TCP connection is established, but operational commands are not yet allowed.</a:t>
            </a:r>
          </a:p>
          <a:p>
            <a:pPr marL="285750" indent="-285750">
              <a:lnSpc>
                <a:spcPct val="200000"/>
              </a:lnSpc>
              <a:buFont typeface="Arial" panose="020B0604020202020204" pitchFamily="34" charset="0"/>
              <a:buChar char="•"/>
            </a:pPr>
            <a:r>
              <a:rPr lang="en-CA" sz="1200" b="1" dirty="0">
                <a:solidFill>
                  <a:schemeClr val="bg1"/>
                </a:solidFill>
              </a:rPr>
              <a:t>VERIFIED</a:t>
            </a:r>
            <a:r>
              <a:rPr lang="en-CA" sz="1200" dirty="0">
                <a:solidFill>
                  <a:schemeClr val="bg1"/>
                </a:solidFill>
              </a:rPr>
              <a:t> : Client authentication is complete, and valid commands may now be processed.</a:t>
            </a:r>
          </a:p>
          <a:p>
            <a:pPr marL="285750" indent="-285750">
              <a:lnSpc>
                <a:spcPct val="200000"/>
              </a:lnSpc>
              <a:buFont typeface="Arial" panose="020B0604020202020204" pitchFamily="34" charset="0"/>
              <a:buChar char="•"/>
            </a:pPr>
            <a:r>
              <a:rPr lang="en-CA" sz="1200" b="1" dirty="0">
                <a:solidFill>
                  <a:schemeClr val="bg1"/>
                </a:solidFill>
              </a:rPr>
              <a:t>SENSOR_DATA </a:t>
            </a:r>
            <a:r>
              <a:rPr lang="en-CA" sz="1200" dirty="0">
                <a:solidFill>
                  <a:schemeClr val="bg1"/>
                </a:solidFill>
              </a:rPr>
              <a:t>: Server generates and returns current aircraft sensor readings.</a:t>
            </a:r>
          </a:p>
          <a:p>
            <a:pPr marL="285750" indent="-285750">
              <a:lnSpc>
                <a:spcPct val="200000"/>
              </a:lnSpc>
              <a:buFont typeface="Arial" panose="020B0604020202020204" pitchFamily="34" charset="0"/>
              <a:buChar char="•"/>
            </a:pPr>
            <a:r>
              <a:rPr lang="en-CA" sz="1200" b="1" dirty="0">
                <a:solidFill>
                  <a:schemeClr val="bg1"/>
                </a:solidFill>
              </a:rPr>
              <a:t>TELEMETRY_TRANSFER </a:t>
            </a:r>
            <a:r>
              <a:rPr lang="en-CA" sz="1200" dirty="0">
                <a:solidFill>
                  <a:schemeClr val="bg1"/>
                </a:solidFill>
              </a:rPr>
              <a:t>: Server sends the telemetry log file in structured chunks until completion. </a:t>
            </a:r>
          </a:p>
          <a:p>
            <a:pPr marL="285750" indent="-285750">
              <a:lnSpc>
                <a:spcPct val="200000"/>
              </a:lnSpc>
              <a:buFont typeface="Arial" panose="020B0604020202020204" pitchFamily="34" charset="0"/>
              <a:buChar char="•"/>
            </a:pPr>
            <a:r>
              <a:rPr lang="en-CA" sz="1200" b="1" dirty="0">
                <a:solidFill>
                  <a:schemeClr val="bg1"/>
                </a:solidFill>
              </a:rPr>
              <a:t>DISCONNECTING : </a:t>
            </a:r>
            <a:r>
              <a:rPr lang="en-CA" sz="1200" dirty="0">
                <a:solidFill>
                  <a:schemeClr val="bg1"/>
                </a:solidFill>
              </a:rPr>
              <a:t>Server completes the disconnect response, closes the session, and returns to waiting. </a:t>
            </a:r>
            <a:endParaRPr lang="en-CA" sz="1200" b="1" dirty="0">
              <a:solidFill>
                <a:schemeClr val="bg1"/>
              </a:solidFill>
            </a:endParaRPr>
          </a:p>
        </p:txBody>
      </p:sp>
    </p:spTree>
    <p:extLst>
      <p:ext uri="{BB962C8B-B14F-4D97-AF65-F5344CB8AC3E}">
        <p14:creationId xmlns:p14="http://schemas.microsoft.com/office/powerpoint/2010/main" val="28204646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3498DB"/>
          </a:solidFill>
          <a:ln w="12700">
            <a:solidFill>
              <a:srgbClr val="3498DB"/>
            </a:solidFill>
            <a:prstDash val="solid"/>
          </a:ln>
        </p:spPr>
        <p:txBody>
          <a:bodyPr/>
          <a:lstStyle/>
          <a:p>
            <a:endParaRPr lang="en-CA"/>
          </a:p>
        </p:txBody>
      </p:sp>
      <p:sp>
        <p:nvSpPr>
          <p:cNvPr id="3" name="Text 1"/>
          <p:cNvSpPr/>
          <p:nvPr/>
        </p:nvSpPr>
        <p:spPr>
          <a:xfrm>
            <a:off x="1365186" y="1327897"/>
            <a:ext cx="6413627" cy="2992643"/>
          </a:xfrm>
          <a:prstGeom prst="rect">
            <a:avLst/>
          </a:prstGeom>
          <a:noFill/>
          <a:ln/>
        </p:spPr>
        <p:txBody>
          <a:bodyPr wrap="square" lIns="0" tIns="0" rIns="0" bIns="0" rtlCol="0" anchor="ctr"/>
          <a:lstStyle/>
          <a:p>
            <a:pPr marL="0" indent="0" algn="ctr">
              <a:buNone/>
            </a:pPr>
            <a:r>
              <a:rPr lang="en-US" sz="6600" b="1" dirty="0">
                <a:solidFill>
                  <a:srgbClr val="FFFFFF"/>
                </a:solidFill>
                <a:latin typeface="Calibri" pitchFamily="34" charset="0"/>
                <a:ea typeface="Calibri" pitchFamily="34" charset="-122"/>
                <a:cs typeface="Calibri" pitchFamily="34" charset="-120"/>
              </a:rPr>
              <a:t>Demonstration</a:t>
            </a:r>
            <a:endParaRPr lang="en-US" sz="6600" dirty="0"/>
          </a:p>
        </p:txBody>
      </p:sp>
      <p:sp>
        <p:nvSpPr>
          <p:cNvPr id="4" name="Shape 2"/>
          <p:cNvSpPr/>
          <p:nvPr/>
        </p:nvSpPr>
        <p:spPr>
          <a:xfrm>
            <a:off x="457200" y="713232"/>
            <a:ext cx="8229600" cy="22860"/>
          </a:xfrm>
          <a:prstGeom prst="rect">
            <a:avLst/>
          </a:prstGeom>
          <a:solidFill>
            <a:srgbClr val="3498DB"/>
          </a:solidFill>
          <a:ln w="12700">
            <a:solidFill>
              <a:srgbClr val="3498DB"/>
            </a:solidFill>
            <a:prstDash val="solid"/>
          </a:ln>
        </p:spPr>
        <p:txBody>
          <a:bodyPr/>
          <a:lstStyle/>
          <a:p>
            <a:endParaRPr lang="en-CA"/>
          </a:p>
        </p:txBody>
      </p:sp>
      <p:sp>
        <p:nvSpPr>
          <p:cNvPr id="5" name="Text 3"/>
          <p:cNvSpPr/>
          <p:nvPr/>
        </p:nvSpPr>
        <p:spPr>
          <a:xfrm>
            <a:off x="457200" y="822960"/>
            <a:ext cx="8229600" cy="274320"/>
          </a:xfrm>
          <a:prstGeom prst="rect">
            <a:avLst/>
          </a:prstGeom>
          <a:noFill/>
          <a:ln/>
        </p:spPr>
        <p:txBody>
          <a:bodyPr wrap="square" lIns="0" tIns="0" rIns="0" bIns="0" rtlCol="0" anchor="ctr"/>
          <a:lstStyle/>
          <a:p>
            <a:pPr marL="0" indent="0">
              <a:buNone/>
            </a:pP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7AE60"/>
          </a:solidFill>
          <a:ln w="12700">
            <a:solidFill>
              <a:srgbClr val="27AE60"/>
            </a:solidFill>
            <a:prstDash val="solid"/>
          </a:ln>
        </p:spPr>
        <p:txBody>
          <a:bodyPr/>
          <a:lstStyle/>
          <a:p>
            <a:endParaRPr lang="en-CA"/>
          </a:p>
        </p:txBody>
      </p:sp>
      <p:sp>
        <p:nvSpPr>
          <p:cNvPr id="3" name="Text 1"/>
          <p:cNvSpPr/>
          <p:nvPr/>
        </p:nvSpPr>
        <p:spPr>
          <a:xfrm>
            <a:off x="457200" y="164592"/>
            <a:ext cx="8229600" cy="502920"/>
          </a:xfrm>
          <a:prstGeom prst="rect">
            <a:avLst/>
          </a:prstGeom>
          <a:noFill/>
          <a:ln/>
        </p:spPr>
        <p:txBody>
          <a:bodyPr wrap="square" lIns="0" tIns="0" rIns="0" bIns="0" rtlCol="0" anchor="ctr"/>
          <a:lstStyle/>
          <a:p>
            <a:pPr marL="0" indent="0" algn="l">
              <a:buNone/>
            </a:pPr>
            <a:r>
              <a:rPr lang="en-US" sz="2600" b="1" dirty="0">
                <a:solidFill>
                  <a:srgbClr val="FFFFFF"/>
                </a:solidFill>
                <a:latin typeface="Calibri" pitchFamily="34" charset="0"/>
                <a:ea typeface="Calibri" pitchFamily="34" charset="-122"/>
                <a:cs typeface="Calibri" pitchFamily="34" charset="-120"/>
              </a:rPr>
              <a:t>Unit Testing  —  Client &amp; Server</a:t>
            </a:r>
            <a:endParaRPr lang="en-US" sz="2600" dirty="0"/>
          </a:p>
        </p:txBody>
      </p:sp>
      <p:sp>
        <p:nvSpPr>
          <p:cNvPr id="4" name="Shape 2"/>
          <p:cNvSpPr/>
          <p:nvPr/>
        </p:nvSpPr>
        <p:spPr>
          <a:xfrm>
            <a:off x="457200" y="713232"/>
            <a:ext cx="8229600" cy="22860"/>
          </a:xfrm>
          <a:prstGeom prst="rect">
            <a:avLst/>
          </a:prstGeom>
          <a:solidFill>
            <a:srgbClr val="3498DB"/>
          </a:solidFill>
          <a:ln w="12700">
            <a:solidFill>
              <a:srgbClr val="3498DB"/>
            </a:solidFill>
            <a:prstDash val="solid"/>
          </a:ln>
        </p:spPr>
        <p:txBody>
          <a:bodyPr/>
          <a:lstStyle/>
          <a:p>
            <a:endParaRPr lang="en-CA"/>
          </a:p>
        </p:txBody>
      </p:sp>
      <p:sp>
        <p:nvSpPr>
          <p:cNvPr id="5" name="Shape 3"/>
          <p:cNvSpPr/>
          <p:nvPr/>
        </p:nvSpPr>
        <p:spPr>
          <a:xfrm>
            <a:off x="365760" y="960120"/>
            <a:ext cx="4023360" cy="347472"/>
          </a:xfrm>
          <a:prstGeom prst="rect">
            <a:avLst/>
          </a:prstGeom>
          <a:solidFill>
            <a:srgbClr val="3498DB"/>
          </a:solidFill>
          <a:ln w="12700">
            <a:solidFill>
              <a:srgbClr val="3498DB"/>
            </a:solidFill>
            <a:prstDash val="solid"/>
          </a:ln>
        </p:spPr>
        <p:txBody>
          <a:bodyPr/>
          <a:lstStyle/>
          <a:p>
            <a:endParaRPr lang="en-CA"/>
          </a:p>
        </p:txBody>
      </p:sp>
      <p:sp>
        <p:nvSpPr>
          <p:cNvPr id="6" name="Text 4"/>
          <p:cNvSpPr/>
          <p:nvPr/>
        </p:nvSpPr>
        <p:spPr>
          <a:xfrm>
            <a:off x="365760" y="960120"/>
            <a:ext cx="4023360"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Client Unit Tests</a:t>
            </a:r>
            <a:endParaRPr lang="en-US" sz="1300" dirty="0"/>
          </a:p>
        </p:txBody>
      </p:sp>
      <p:sp>
        <p:nvSpPr>
          <p:cNvPr id="7" name="Shape 5"/>
          <p:cNvSpPr/>
          <p:nvPr/>
        </p:nvSpPr>
        <p:spPr>
          <a:xfrm>
            <a:off x="365760" y="1408176"/>
            <a:ext cx="4023360" cy="530352"/>
          </a:xfrm>
          <a:prstGeom prst="rect">
            <a:avLst/>
          </a:prstGeom>
          <a:solidFill>
            <a:srgbClr val="2C3E50"/>
          </a:solidFill>
          <a:ln w="12700">
            <a:solidFill>
              <a:srgbClr val="1B4F72">
                <a:alpha val="60000"/>
              </a:srgbClr>
            </a:solidFill>
            <a:prstDash val="solid"/>
          </a:ln>
        </p:spPr>
        <p:txBody>
          <a:bodyPr/>
          <a:lstStyle/>
          <a:p>
            <a:endParaRPr lang="en-CA"/>
          </a:p>
        </p:txBody>
      </p:sp>
      <p:sp>
        <p:nvSpPr>
          <p:cNvPr id="8" name="Shape 6"/>
          <p:cNvSpPr/>
          <p:nvPr/>
        </p:nvSpPr>
        <p:spPr>
          <a:xfrm>
            <a:off x="4005072" y="1517904"/>
            <a:ext cx="640080" cy="329184"/>
          </a:xfrm>
          <a:prstGeom prst="rect">
            <a:avLst/>
          </a:prstGeom>
          <a:solidFill>
            <a:srgbClr val="27AE60"/>
          </a:solidFill>
          <a:ln w="12700">
            <a:solidFill>
              <a:srgbClr val="27AE60"/>
            </a:solidFill>
            <a:prstDash val="solid"/>
          </a:ln>
        </p:spPr>
        <p:txBody>
          <a:bodyPr/>
          <a:lstStyle/>
          <a:p>
            <a:endParaRPr lang="en-CA"/>
          </a:p>
        </p:txBody>
      </p:sp>
      <p:sp>
        <p:nvSpPr>
          <p:cNvPr id="9" name="Text 7"/>
          <p:cNvSpPr/>
          <p:nvPr/>
        </p:nvSpPr>
        <p:spPr>
          <a:xfrm>
            <a:off x="4005072" y="1517904"/>
            <a:ext cx="640080" cy="32918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PASS</a:t>
            </a:r>
            <a:endParaRPr lang="en-US" sz="900" dirty="0"/>
          </a:p>
        </p:txBody>
      </p:sp>
      <p:sp>
        <p:nvSpPr>
          <p:cNvPr id="10" name="Text 8"/>
          <p:cNvSpPr/>
          <p:nvPr/>
        </p:nvSpPr>
        <p:spPr>
          <a:xfrm>
            <a:off x="475488" y="1463040"/>
            <a:ext cx="3429000" cy="256032"/>
          </a:xfrm>
          <a:prstGeom prst="rect">
            <a:avLst/>
          </a:prstGeom>
          <a:noFill/>
          <a:ln/>
        </p:spPr>
        <p:txBody>
          <a:bodyPr wrap="square" lIns="0" tIns="0" rIns="0" bIns="0" rtlCol="0" anchor="ctr"/>
          <a:lstStyle/>
          <a:p>
            <a:r>
              <a:rPr lang="en-CA" sz="1100" b="1" dirty="0">
                <a:solidFill>
                  <a:srgbClr val="00B0F0"/>
                </a:solidFill>
              </a:rPr>
              <a:t>Packet Serialization Validation</a:t>
            </a:r>
            <a:endParaRPr lang="en-US" sz="1100" b="1" dirty="0">
              <a:solidFill>
                <a:srgbClr val="00B0F0"/>
              </a:solidFill>
            </a:endParaRPr>
          </a:p>
        </p:txBody>
      </p:sp>
      <p:sp>
        <p:nvSpPr>
          <p:cNvPr id="11" name="Text 9"/>
          <p:cNvSpPr/>
          <p:nvPr/>
        </p:nvSpPr>
        <p:spPr>
          <a:xfrm>
            <a:off x="475488" y="1719072"/>
            <a:ext cx="3429000" cy="219456"/>
          </a:xfrm>
          <a:prstGeom prst="rect">
            <a:avLst/>
          </a:prstGeom>
          <a:noFill/>
          <a:ln/>
        </p:spPr>
        <p:txBody>
          <a:bodyPr wrap="square" lIns="0" tIns="0" rIns="0" bIns="0" rtlCol="0" anchor="ctr"/>
          <a:lstStyle/>
          <a:p>
            <a:r>
              <a:rPr lang="en-US" sz="1000" dirty="0">
                <a:solidFill>
                  <a:schemeClr val="bg1"/>
                </a:solidFill>
              </a:rPr>
              <a:t>Converts packet into byte stream correctly</a:t>
            </a:r>
          </a:p>
        </p:txBody>
      </p:sp>
      <p:sp>
        <p:nvSpPr>
          <p:cNvPr id="12" name="Shape 10"/>
          <p:cNvSpPr/>
          <p:nvPr/>
        </p:nvSpPr>
        <p:spPr>
          <a:xfrm>
            <a:off x="365760" y="2048256"/>
            <a:ext cx="4023360" cy="530352"/>
          </a:xfrm>
          <a:prstGeom prst="rect">
            <a:avLst/>
          </a:prstGeom>
          <a:solidFill>
            <a:srgbClr val="2C3E50"/>
          </a:solidFill>
          <a:ln w="12700">
            <a:solidFill>
              <a:srgbClr val="1B4F72">
                <a:alpha val="60000"/>
              </a:srgbClr>
            </a:solidFill>
            <a:prstDash val="solid"/>
          </a:ln>
        </p:spPr>
        <p:txBody>
          <a:bodyPr/>
          <a:lstStyle/>
          <a:p>
            <a:endParaRPr lang="en-CA"/>
          </a:p>
        </p:txBody>
      </p:sp>
      <p:sp>
        <p:nvSpPr>
          <p:cNvPr id="13" name="Shape 11"/>
          <p:cNvSpPr/>
          <p:nvPr/>
        </p:nvSpPr>
        <p:spPr>
          <a:xfrm>
            <a:off x="4005072" y="2139696"/>
            <a:ext cx="640080" cy="329184"/>
          </a:xfrm>
          <a:prstGeom prst="rect">
            <a:avLst/>
          </a:prstGeom>
          <a:solidFill>
            <a:srgbClr val="27AE60"/>
          </a:solidFill>
          <a:ln w="12700">
            <a:solidFill>
              <a:srgbClr val="27AE60"/>
            </a:solidFill>
            <a:prstDash val="solid"/>
          </a:ln>
        </p:spPr>
        <p:txBody>
          <a:bodyPr/>
          <a:lstStyle/>
          <a:p>
            <a:endParaRPr lang="en-CA"/>
          </a:p>
        </p:txBody>
      </p:sp>
      <p:sp>
        <p:nvSpPr>
          <p:cNvPr id="14" name="Text 12"/>
          <p:cNvSpPr/>
          <p:nvPr/>
        </p:nvSpPr>
        <p:spPr>
          <a:xfrm>
            <a:off x="4005072" y="2139696"/>
            <a:ext cx="640080" cy="32918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PASS</a:t>
            </a:r>
            <a:endParaRPr lang="en-US" sz="900" dirty="0"/>
          </a:p>
        </p:txBody>
      </p:sp>
      <p:sp>
        <p:nvSpPr>
          <p:cNvPr id="15" name="Text 13"/>
          <p:cNvSpPr/>
          <p:nvPr/>
        </p:nvSpPr>
        <p:spPr>
          <a:xfrm>
            <a:off x="475488" y="2084832"/>
            <a:ext cx="3429000" cy="256032"/>
          </a:xfrm>
          <a:prstGeom prst="rect">
            <a:avLst/>
          </a:prstGeom>
          <a:noFill/>
          <a:ln/>
        </p:spPr>
        <p:txBody>
          <a:bodyPr wrap="square" lIns="0" tIns="0" rIns="0" bIns="0" rtlCol="0" anchor="ctr"/>
          <a:lstStyle/>
          <a:p>
            <a:r>
              <a:rPr lang="en-CA" sz="1100" b="1" dirty="0">
                <a:solidFill>
                  <a:srgbClr val="00B0F0"/>
                </a:solidFill>
              </a:rPr>
              <a:t>Packet Deserialization Validation</a:t>
            </a:r>
            <a:endParaRPr lang="en-US" sz="1100" b="1" dirty="0">
              <a:solidFill>
                <a:srgbClr val="00B0F0"/>
              </a:solidFill>
            </a:endParaRPr>
          </a:p>
        </p:txBody>
      </p:sp>
      <p:sp>
        <p:nvSpPr>
          <p:cNvPr id="16" name="Text 14"/>
          <p:cNvSpPr/>
          <p:nvPr/>
        </p:nvSpPr>
        <p:spPr>
          <a:xfrm>
            <a:off x="475488" y="2340864"/>
            <a:ext cx="3429000" cy="219456"/>
          </a:xfrm>
          <a:prstGeom prst="rect">
            <a:avLst/>
          </a:prstGeom>
          <a:noFill/>
          <a:ln/>
        </p:spPr>
        <p:txBody>
          <a:bodyPr wrap="square" lIns="0" tIns="0" rIns="0" bIns="0" rtlCol="0" anchor="ctr"/>
          <a:lstStyle/>
          <a:p>
            <a:r>
              <a:rPr lang="en-US" sz="1000" dirty="0">
                <a:solidFill>
                  <a:schemeClr val="bg1"/>
                </a:solidFill>
              </a:rPr>
              <a:t>Reconstructs packet from byte stream correctly</a:t>
            </a:r>
          </a:p>
        </p:txBody>
      </p:sp>
      <p:sp>
        <p:nvSpPr>
          <p:cNvPr id="17" name="Shape 15"/>
          <p:cNvSpPr/>
          <p:nvPr/>
        </p:nvSpPr>
        <p:spPr>
          <a:xfrm>
            <a:off x="365760" y="2670048"/>
            <a:ext cx="4023360" cy="530352"/>
          </a:xfrm>
          <a:prstGeom prst="rect">
            <a:avLst/>
          </a:prstGeom>
          <a:solidFill>
            <a:srgbClr val="2C3E50"/>
          </a:solidFill>
          <a:ln w="12700">
            <a:solidFill>
              <a:srgbClr val="1B4F72">
                <a:alpha val="60000"/>
              </a:srgbClr>
            </a:solidFill>
            <a:prstDash val="solid"/>
          </a:ln>
        </p:spPr>
        <p:txBody>
          <a:bodyPr/>
          <a:lstStyle/>
          <a:p>
            <a:endParaRPr lang="en-CA"/>
          </a:p>
        </p:txBody>
      </p:sp>
      <p:sp>
        <p:nvSpPr>
          <p:cNvPr id="18" name="Shape 16"/>
          <p:cNvSpPr/>
          <p:nvPr/>
        </p:nvSpPr>
        <p:spPr>
          <a:xfrm>
            <a:off x="4005072" y="2761488"/>
            <a:ext cx="640080" cy="329184"/>
          </a:xfrm>
          <a:prstGeom prst="rect">
            <a:avLst/>
          </a:prstGeom>
          <a:solidFill>
            <a:srgbClr val="27AE60"/>
          </a:solidFill>
          <a:ln w="12700">
            <a:solidFill>
              <a:srgbClr val="27AE60"/>
            </a:solidFill>
            <a:prstDash val="solid"/>
          </a:ln>
        </p:spPr>
        <p:txBody>
          <a:bodyPr/>
          <a:lstStyle/>
          <a:p>
            <a:endParaRPr lang="en-CA"/>
          </a:p>
        </p:txBody>
      </p:sp>
      <p:sp>
        <p:nvSpPr>
          <p:cNvPr id="19" name="Text 17"/>
          <p:cNvSpPr/>
          <p:nvPr/>
        </p:nvSpPr>
        <p:spPr>
          <a:xfrm>
            <a:off x="4005072" y="2761488"/>
            <a:ext cx="640080" cy="32918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PASS</a:t>
            </a:r>
            <a:endParaRPr lang="en-US" sz="900" dirty="0"/>
          </a:p>
        </p:txBody>
      </p:sp>
      <p:sp>
        <p:nvSpPr>
          <p:cNvPr id="20" name="Text 18"/>
          <p:cNvSpPr/>
          <p:nvPr/>
        </p:nvSpPr>
        <p:spPr>
          <a:xfrm>
            <a:off x="475488" y="2706624"/>
            <a:ext cx="3429000" cy="256032"/>
          </a:xfrm>
          <a:prstGeom prst="rect">
            <a:avLst/>
          </a:prstGeom>
          <a:noFill/>
          <a:ln/>
        </p:spPr>
        <p:txBody>
          <a:bodyPr wrap="square" lIns="0" tIns="0" rIns="0" bIns="0" rtlCol="0" anchor="ctr"/>
          <a:lstStyle/>
          <a:p>
            <a:r>
              <a:rPr lang="en-CA" sz="1100" b="1" dirty="0">
                <a:solidFill>
                  <a:srgbClr val="00B0F0"/>
                </a:solidFill>
              </a:rPr>
              <a:t>Text Payload Encoding Test</a:t>
            </a:r>
            <a:endParaRPr lang="en-US" sz="1100" b="1" dirty="0">
              <a:solidFill>
                <a:srgbClr val="00B0F0"/>
              </a:solidFill>
            </a:endParaRPr>
          </a:p>
        </p:txBody>
      </p:sp>
      <p:sp>
        <p:nvSpPr>
          <p:cNvPr id="21" name="Text 19"/>
          <p:cNvSpPr/>
          <p:nvPr/>
        </p:nvSpPr>
        <p:spPr>
          <a:xfrm>
            <a:off x="475488" y="2962656"/>
            <a:ext cx="3429000" cy="219456"/>
          </a:xfrm>
          <a:prstGeom prst="rect">
            <a:avLst/>
          </a:prstGeom>
          <a:noFill/>
          <a:ln/>
        </p:spPr>
        <p:txBody>
          <a:bodyPr wrap="square" lIns="0" tIns="0" rIns="0" bIns="0" rtlCol="0" anchor="ctr"/>
          <a:lstStyle/>
          <a:p>
            <a:r>
              <a:rPr lang="en-US" sz="1000" dirty="0">
                <a:solidFill>
                  <a:schemeClr val="bg1"/>
                </a:solidFill>
              </a:rPr>
              <a:t>Encodes and decodes text payload accurately</a:t>
            </a:r>
          </a:p>
        </p:txBody>
      </p:sp>
      <p:sp>
        <p:nvSpPr>
          <p:cNvPr id="22" name="Shape 20"/>
          <p:cNvSpPr/>
          <p:nvPr/>
        </p:nvSpPr>
        <p:spPr>
          <a:xfrm>
            <a:off x="365760" y="3291840"/>
            <a:ext cx="4023360" cy="530352"/>
          </a:xfrm>
          <a:prstGeom prst="rect">
            <a:avLst/>
          </a:prstGeom>
          <a:solidFill>
            <a:srgbClr val="2C3E50"/>
          </a:solidFill>
          <a:ln w="12700">
            <a:solidFill>
              <a:srgbClr val="1B4F72">
                <a:alpha val="60000"/>
              </a:srgbClr>
            </a:solidFill>
            <a:prstDash val="solid"/>
          </a:ln>
        </p:spPr>
        <p:txBody>
          <a:bodyPr/>
          <a:lstStyle/>
          <a:p>
            <a:endParaRPr lang="en-CA"/>
          </a:p>
        </p:txBody>
      </p:sp>
      <p:sp>
        <p:nvSpPr>
          <p:cNvPr id="23" name="Shape 21"/>
          <p:cNvSpPr/>
          <p:nvPr/>
        </p:nvSpPr>
        <p:spPr>
          <a:xfrm>
            <a:off x="4005072" y="3383280"/>
            <a:ext cx="640080" cy="329184"/>
          </a:xfrm>
          <a:prstGeom prst="rect">
            <a:avLst/>
          </a:prstGeom>
          <a:solidFill>
            <a:srgbClr val="27AE60"/>
          </a:solidFill>
          <a:ln w="12700">
            <a:solidFill>
              <a:srgbClr val="27AE60"/>
            </a:solidFill>
            <a:prstDash val="solid"/>
          </a:ln>
        </p:spPr>
        <p:txBody>
          <a:bodyPr/>
          <a:lstStyle/>
          <a:p>
            <a:endParaRPr lang="en-CA"/>
          </a:p>
        </p:txBody>
      </p:sp>
      <p:sp>
        <p:nvSpPr>
          <p:cNvPr id="24" name="Text 22"/>
          <p:cNvSpPr/>
          <p:nvPr/>
        </p:nvSpPr>
        <p:spPr>
          <a:xfrm>
            <a:off x="4005072" y="3383280"/>
            <a:ext cx="640080" cy="32918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PASS</a:t>
            </a:r>
            <a:endParaRPr lang="en-US" sz="900" dirty="0"/>
          </a:p>
        </p:txBody>
      </p:sp>
      <p:sp>
        <p:nvSpPr>
          <p:cNvPr id="25" name="Text 23"/>
          <p:cNvSpPr/>
          <p:nvPr/>
        </p:nvSpPr>
        <p:spPr>
          <a:xfrm>
            <a:off x="475488" y="3328416"/>
            <a:ext cx="3429000" cy="256032"/>
          </a:xfrm>
          <a:prstGeom prst="rect">
            <a:avLst/>
          </a:prstGeom>
          <a:noFill/>
          <a:ln/>
        </p:spPr>
        <p:txBody>
          <a:bodyPr wrap="square" lIns="0" tIns="0" rIns="0" bIns="0" rtlCol="0" anchor="ctr"/>
          <a:lstStyle/>
          <a:p>
            <a:r>
              <a:rPr lang="en-CA" sz="1100" b="1" dirty="0">
                <a:solidFill>
                  <a:srgbClr val="00B0F0"/>
                </a:solidFill>
              </a:rPr>
              <a:t>Payload Size Limit Check</a:t>
            </a:r>
            <a:endParaRPr lang="en-US" sz="1100" b="1" dirty="0">
              <a:solidFill>
                <a:srgbClr val="00B0F0"/>
              </a:solidFill>
            </a:endParaRPr>
          </a:p>
        </p:txBody>
      </p:sp>
      <p:sp>
        <p:nvSpPr>
          <p:cNvPr id="26" name="Text 24"/>
          <p:cNvSpPr/>
          <p:nvPr/>
        </p:nvSpPr>
        <p:spPr>
          <a:xfrm>
            <a:off x="475488" y="3584448"/>
            <a:ext cx="3429000" cy="219456"/>
          </a:xfrm>
          <a:prstGeom prst="rect">
            <a:avLst/>
          </a:prstGeom>
          <a:noFill/>
          <a:ln/>
        </p:spPr>
        <p:txBody>
          <a:bodyPr wrap="square" lIns="0" tIns="0" rIns="0" bIns="0" rtlCol="0" anchor="ctr"/>
          <a:lstStyle/>
          <a:p>
            <a:r>
              <a:rPr lang="en-US" sz="1000" dirty="0">
                <a:solidFill>
                  <a:schemeClr val="bg1"/>
                </a:solidFill>
              </a:rPr>
              <a:t>Rejects payload exceeding maximum allowed size</a:t>
            </a:r>
          </a:p>
        </p:txBody>
      </p:sp>
      <p:sp>
        <p:nvSpPr>
          <p:cNvPr id="27" name="Shape 25"/>
          <p:cNvSpPr/>
          <p:nvPr/>
        </p:nvSpPr>
        <p:spPr>
          <a:xfrm>
            <a:off x="365760" y="3913632"/>
            <a:ext cx="4023360" cy="530352"/>
          </a:xfrm>
          <a:prstGeom prst="rect">
            <a:avLst/>
          </a:prstGeom>
          <a:solidFill>
            <a:srgbClr val="2C3E50"/>
          </a:solidFill>
          <a:ln w="12700">
            <a:solidFill>
              <a:srgbClr val="1B4F72">
                <a:alpha val="60000"/>
              </a:srgbClr>
            </a:solidFill>
            <a:prstDash val="solid"/>
          </a:ln>
        </p:spPr>
        <p:txBody>
          <a:bodyPr/>
          <a:lstStyle/>
          <a:p>
            <a:endParaRPr lang="en-CA"/>
          </a:p>
        </p:txBody>
      </p:sp>
      <p:sp>
        <p:nvSpPr>
          <p:cNvPr id="28" name="Shape 26"/>
          <p:cNvSpPr/>
          <p:nvPr/>
        </p:nvSpPr>
        <p:spPr>
          <a:xfrm>
            <a:off x="4005072" y="4005072"/>
            <a:ext cx="640080" cy="329184"/>
          </a:xfrm>
          <a:prstGeom prst="rect">
            <a:avLst/>
          </a:prstGeom>
          <a:solidFill>
            <a:srgbClr val="27AE60"/>
          </a:solidFill>
          <a:ln w="12700">
            <a:solidFill>
              <a:srgbClr val="27AE60"/>
            </a:solidFill>
            <a:prstDash val="solid"/>
          </a:ln>
        </p:spPr>
        <p:txBody>
          <a:bodyPr/>
          <a:lstStyle/>
          <a:p>
            <a:endParaRPr lang="en-CA"/>
          </a:p>
        </p:txBody>
      </p:sp>
      <p:sp>
        <p:nvSpPr>
          <p:cNvPr id="29" name="Text 27"/>
          <p:cNvSpPr/>
          <p:nvPr/>
        </p:nvSpPr>
        <p:spPr>
          <a:xfrm>
            <a:off x="4005072" y="4005072"/>
            <a:ext cx="640080" cy="32918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PASS</a:t>
            </a:r>
            <a:endParaRPr lang="en-US" sz="900" dirty="0"/>
          </a:p>
        </p:txBody>
      </p:sp>
      <p:sp>
        <p:nvSpPr>
          <p:cNvPr id="30" name="Text 28"/>
          <p:cNvSpPr/>
          <p:nvPr/>
        </p:nvSpPr>
        <p:spPr>
          <a:xfrm>
            <a:off x="475488" y="3950208"/>
            <a:ext cx="3429000" cy="256032"/>
          </a:xfrm>
          <a:prstGeom prst="rect">
            <a:avLst/>
          </a:prstGeom>
          <a:noFill/>
          <a:ln/>
        </p:spPr>
        <p:txBody>
          <a:bodyPr wrap="square" lIns="0" tIns="0" rIns="0" bIns="0" rtlCol="0" anchor="ctr"/>
          <a:lstStyle/>
          <a:p>
            <a:r>
              <a:rPr lang="en-CA" sz="1100" b="1" dirty="0">
                <a:solidFill>
                  <a:srgbClr val="00B0F0"/>
                </a:solidFill>
              </a:rPr>
              <a:t>Sensor Data Serialization Test</a:t>
            </a:r>
            <a:endParaRPr lang="en-US" sz="1100" b="1" dirty="0">
              <a:solidFill>
                <a:srgbClr val="00B0F0"/>
              </a:solidFill>
            </a:endParaRPr>
          </a:p>
        </p:txBody>
      </p:sp>
      <p:sp>
        <p:nvSpPr>
          <p:cNvPr id="31" name="Text 29"/>
          <p:cNvSpPr/>
          <p:nvPr/>
        </p:nvSpPr>
        <p:spPr>
          <a:xfrm>
            <a:off x="475488" y="4206240"/>
            <a:ext cx="3429000" cy="219456"/>
          </a:xfrm>
          <a:prstGeom prst="rect">
            <a:avLst/>
          </a:prstGeom>
          <a:noFill/>
          <a:ln/>
        </p:spPr>
        <p:txBody>
          <a:bodyPr wrap="square" lIns="0" tIns="0" rIns="0" bIns="0" rtlCol="0" anchor="ctr"/>
          <a:lstStyle/>
          <a:p>
            <a:r>
              <a:rPr lang="pt-BR" sz="1000" dirty="0">
                <a:solidFill>
                  <a:schemeClr val="bg1"/>
                </a:solidFill>
              </a:rPr>
              <a:t>Serializes and deserializes sensor data correctly</a:t>
            </a:r>
            <a:endParaRPr lang="en-US" sz="1000" dirty="0">
              <a:solidFill>
                <a:schemeClr val="bg1"/>
              </a:solidFill>
            </a:endParaRPr>
          </a:p>
        </p:txBody>
      </p:sp>
      <p:sp>
        <p:nvSpPr>
          <p:cNvPr id="32" name="Shape 30"/>
          <p:cNvSpPr/>
          <p:nvPr/>
        </p:nvSpPr>
        <p:spPr>
          <a:xfrm>
            <a:off x="4663440" y="960120"/>
            <a:ext cx="4160520" cy="347472"/>
          </a:xfrm>
          <a:prstGeom prst="rect">
            <a:avLst/>
          </a:prstGeom>
          <a:solidFill>
            <a:srgbClr val="1ABC9C"/>
          </a:solidFill>
          <a:ln w="12700">
            <a:solidFill>
              <a:srgbClr val="1ABC9C"/>
            </a:solidFill>
            <a:prstDash val="solid"/>
          </a:ln>
        </p:spPr>
        <p:txBody>
          <a:bodyPr/>
          <a:lstStyle/>
          <a:p>
            <a:endParaRPr lang="en-CA"/>
          </a:p>
        </p:txBody>
      </p:sp>
      <p:sp>
        <p:nvSpPr>
          <p:cNvPr id="33" name="Text 31"/>
          <p:cNvSpPr/>
          <p:nvPr/>
        </p:nvSpPr>
        <p:spPr>
          <a:xfrm>
            <a:off x="4663440" y="960120"/>
            <a:ext cx="4160520"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Server Unit Tests</a:t>
            </a:r>
            <a:endParaRPr lang="en-US" sz="1300" dirty="0"/>
          </a:p>
        </p:txBody>
      </p:sp>
      <p:sp>
        <p:nvSpPr>
          <p:cNvPr id="34" name="Shape 32"/>
          <p:cNvSpPr/>
          <p:nvPr/>
        </p:nvSpPr>
        <p:spPr>
          <a:xfrm>
            <a:off x="4663440" y="1426464"/>
            <a:ext cx="4160520" cy="530352"/>
          </a:xfrm>
          <a:prstGeom prst="rect">
            <a:avLst/>
          </a:prstGeom>
          <a:solidFill>
            <a:srgbClr val="2C3E50"/>
          </a:solidFill>
          <a:ln w="12700">
            <a:solidFill>
              <a:srgbClr val="1B4F72">
                <a:alpha val="60000"/>
              </a:srgbClr>
            </a:solidFill>
            <a:prstDash val="solid"/>
          </a:ln>
        </p:spPr>
        <p:txBody>
          <a:bodyPr/>
          <a:lstStyle/>
          <a:p>
            <a:endParaRPr lang="en-CA"/>
          </a:p>
        </p:txBody>
      </p:sp>
      <p:sp>
        <p:nvSpPr>
          <p:cNvPr id="35" name="Shape 33"/>
          <p:cNvSpPr/>
          <p:nvPr/>
        </p:nvSpPr>
        <p:spPr>
          <a:xfrm>
            <a:off x="8430768" y="1517904"/>
            <a:ext cx="640080" cy="329184"/>
          </a:xfrm>
          <a:prstGeom prst="rect">
            <a:avLst/>
          </a:prstGeom>
          <a:solidFill>
            <a:srgbClr val="27AE60"/>
          </a:solidFill>
          <a:ln w="12700">
            <a:solidFill>
              <a:srgbClr val="27AE60"/>
            </a:solidFill>
            <a:prstDash val="solid"/>
          </a:ln>
        </p:spPr>
        <p:txBody>
          <a:bodyPr/>
          <a:lstStyle/>
          <a:p>
            <a:endParaRPr lang="en-CA"/>
          </a:p>
        </p:txBody>
      </p:sp>
      <p:sp>
        <p:nvSpPr>
          <p:cNvPr id="36" name="Text 34"/>
          <p:cNvSpPr/>
          <p:nvPr/>
        </p:nvSpPr>
        <p:spPr>
          <a:xfrm>
            <a:off x="8430768" y="1517904"/>
            <a:ext cx="640080" cy="32918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PASS</a:t>
            </a:r>
            <a:endParaRPr lang="en-US" sz="900" dirty="0"/>
          </a:p>
        </p:txBody>
      </p:sp>
      <p:sp>
        <p:nvSpPr>
          <p:cNvPr id="37" name="Text 35"/>
          <p:cNvSpPr/>
          <p:nvPr/>
        </p:nvSpPr>
        <p:spPr>
          <a:xfrm>
            <a:off x="4773168" y="1463040"/>
            <a:ext cx="3566160" cy="256032"/>
          </a:xfrm>
          <a:prstGeom prst="rect">
            <a:avLst/>
          </a:prstGeom>
          <a:noFill/>
          <a:ln/>
        </p:spPr>
        <p:txBody>
          <a:bodyPr wrap="square" lIns="0" tIns="0" rIns="0" bIns="0" rtlCol="0" anchor="ctr"/>
          <a:lstStyle/>
          <a:p>
            <a:r>
              <a:rPr lang="en-CA" sz="1100" b="1" dirty="0">
                <a:solidFill>
                  <a:srgbClr val="00B050"/>
                </a:solidFill>
              </a:rPr>
              <a:t>Verification Success Handling</a:t>
            </a:r>
            <a:endParaRPr lang="en-US" sz="1100" b="1" dirty="0">
              <a:solidFill>
                <a:srgbClr val="00B050"/>
              </a:solidFill>
            </a:endParaRPr>
          </a:p>
        </p:txBody>
      </p:sp>
      <p:sp>
        <p:nvSpPr>
          <p:cNvPr id="38" name="Text 36"/>
          <p:cNvSpPr/>
          <p:nvPr/>
        </p:nvSpPr>
        <p:spPr>
          <a:xfrm>
            <a:off x="4773168" y="1719072"/>
            <a:ext cx="3566160" cy="219456"/>
          </a:xfrm>
          <a:prstGeom prst="rect">
            <a:avLst/>
          </a:prstGeom>
          <a:noFill/>
          <a:ln/>
        </p:spPr>
        <p:txBody>
          <a:bodyPr wrap="square" lIns="0" tIns="0" rIns="0" bIns="0" rtlCol="0" anchor="ctr"/>
          <a:lstStyle/>
          <a:p>
            <a:r>
              <a:rPr lang="en-US" sz="1000" dirty="0">
                <a:solidFill>
                  <a:schemeClr val="bg1"/>
                </a:solidFill>
              </a:rPr>
              <a:t>Accepts valid token and returns success</a:t>
            </a:r>
          </a:p>
        </p:txBody>
      </p:sp>
      <p:sp>
        <p:nvSpPr>
          <p:cNvPr id="39" name="Shape 37"/>
          <p:cNvSpPr/>
          <p:nvPr/>
        </p:nvSpPr>
        <p:spPr>
          <a:xfrm>
            <a:off x="4663440" y="2048256"/>
            <a:ext cx="4160520" cy="530352"/>
          </a:xfrm>
          <a:prstGeom prst="rect">
            <a:avLst/>
          </a:prstGeom>
          <a:solidFill>
            <a:srgbClr val="2C3E50"/>
          </a:solidFill>
          <a:ln w="12700">
            <a:solidFill>
              <a:srgbClr val="1B4F72">
                <a:alpha val="60000"/>
              </a:srgbClr>
            </a:solidFill>
            <a:prstDash val="solid"/>
          </a:ln>
        </p:spPr>
        <p:txBody>
          <a:bodyPr/>
          <a:lstStyle/>
          <a:p>
            <a:endParaRPr lang="en-CA"/>
          </a:p>
        </p:txBody>
      </p:sp>
      <p:sp>
        <p:nvSpPr>
          <p:cNvPr id="40" name="Shape 38"/>
          <p:cNvSpPr/>
          <p:nvPr/>
        </p:nvSpPr>
        <p:spPr>
          <a:xfrm>
            <a:off x="8430768" y="2139696"/>
            <a:ext cx="640080" cy="329184"/>
          </a:xfrm>
          <a:prstGeom prst="rect">
            <a:avLst/>
          </a:prstGeom>
          <a:solidFill>
            <a:srgbClr val="27AE60"/>
          </a:solidFill>
          <a:ln w="12700">
            <a:solidFill>
              <a:srgbClr val="27AE60"/>
            </a:solidFill>
            <a:prstDash val="solid"/>
          </a:ln>
        </p:spPr>
        <p:txBody>
          <a:bodyPr/>
          <a:lstStyle/>
          <a:p>
            <a:endParaRPr lang="en-CA"/>
          </a:p>
        </p:txBody>
      </p:sp>
      <p:sp>
        <p:nvSpPr>
          <p:cNvPr id="41" name="Text 39"/>
          <p:cNvSpPr/>
          <p:nvPr/>
        </p:nvSpPr>
        <p:spPr>
          <a:xfrm>
            <a:off x="8430768" y="2139696"/>
            <a:ext cx="640080" cy="32918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PASS</a:t>
            </a:r>
            <a:endParaRPr lang="en-US" sz="900" dirty="0"/>
          </a:p>
        </p:txBody>
      </p:sp>
      <p:sp>
        <p:nvSpPr>
          <p:cNvPr id="42" name="Text 40"/>
          <p:cNvSpPr/>
          <p:nvPr/>
        </p:nvSpPr>
        <p:spPr>
          <a:xfrm>
            <a:off x="4773168" y="2084832"/>
            <a:ext cx="3566160" cy="256032"/>
          </a:xfrm>
          <a:prstGeom prst="rect">
            <a:avLst/>
          </a:prstGeom>
          <a:noFill/>
          <a:ln/>
        </p:spPr>
        <p:txBody>
          <a:bodyPr wrap="square" lIns="0" tIns="0" rIns="0" bIns="0" rtlCol="0" anchor="ctr"/>
          <a:lstStyle/>
          <a:p>
            <a:r>
              <a:rPr lang="en-CA" sz="1100" b="1" dirty="0">
                <a:solidFill>
                  <a:srgbClr val="00B050"/>
                </a:solidFill>
              </a:rPr>
              <a:t>Verification Failure Handling</a:t>
            </a:r>
            <a:endParaRPr lang="en-US" sz="1100" b="1" dirty="0">
              <a:solidFill>
                <a:srgbClr val="00B050"/>
              </a:solidFill>
            </a:endParaRPr>
          </a:p>
        </p:txBody>
      </p:sp>
      <p:sp>
        <p:nvSpPr>
          <p:cNvPr id="43" name="Text 41"/>
          <p:cNvSpPr/>
          <p:nvPr/>
        </p:nvSpPr>
        <p:spPr>
          <a:xfrm>
            <a:off x="4773168" y="2340864"/>
            <a:ext cx="3566160" cy="219456"/>
          </a:xfrm>
          <a:prstGeom prst="rect">
            <a:avLst/>
          </a:prstGeom>
          <a:noFill/>
          <a:ln/>
        </p:spPr>
        <p:txBody>
          <a:bodyPr wrap="square" lIns="0" tIns="0" rIns="0" bIns="0" rtlCol="0" anchor="ctr"/>
          <a:lstStyle/>
          <a:p>
            <a:r>
              <a:rPr lang="en-US" sz="1000" dirty="0">
                <a:solidFill>
                  <a:schemeClr val="bg1"/>
                </a:solidFill>
              </a:rPr>
              <a:t>Rejects invalid token with failure status</a:t>
            </a:r>
          </a:p>
        </p:txBody>
      </p:sp>
      <p:sp>
        <p:nvSpPr>
          <p:cNvPr id="44" name="Shape 42"/>
          <p:cNvSpPr/>
          <p:nvPr/>
        </p:nvSpPr>
        <p:spPr>
          <a:xfrm>
            <a:off x="4663440" y="2670048"/>
            <a:ext cx="4160520" cy="530352"/>
          </a:xfrm>
          <a:prstGeom prst="rect">
            <a:avLst/>
          </a:prstGeom>
          <a:solidFill>
            <a:srgbClr val="2C3E50"/>
          </a:solidFill>
          <a:ln w="12700">
            <a:solidFill>
              <a:srgbClr val="1B4F72">
                <a:alpha val="60000"/>
              </a:srgbClr>
            </a:solidFill>
            <a:prstDash val="solid"/>
          </a:ln>
        </p:spPr>
        <p:txBody>
          <a:bodyPr/>
          <a:lstStyle/>
          <a:p>
            <a:endParaRPr lang="en-CA"/>
          </a:p>
        </p:txBody>
      </p:sp>
      <p:sp>
        <p:nvSpPr>
          <p:cNvPr id="45" name="Shape 43"/>
          <p:cNvSpPr/>
          <p:nvPr/>
        </p:nvSpPr>
        <p:spPr>
          <a:xfrm>
            <a:off x="8430768" y="2761488"/>
            <a:ext cx="640080" cy="329184"/>
          </a:xfrm>
          <a:prstGeom prst="rect">
            <a:avLst/>
          </a:prstGeom>
          <a:solidFill>
            <a:srgbClr val="27AE60"/>
          </a:solidFill>
          <a:ln w="12700">
            <a:solidFill>
              <a:srgbClr val="27AE60"/>
            </a:solidFill>
            <a:prstDash val="solid"/>
          </a:ln>
        </p:spPr>
        <p:txBody>
          <a:bodyPr/>
          <a:lstStyle/>
          <a:p>
            <a:endParaRPr lang="en-CA"/>
          </a:p>
        </p:txBody>
      </p:sp>
      <p:sp>
        <p:nvSpPr>
          <p:cNvPr id="46" name="Text 44"/>
          <p:cNvSpPr/>
          <p:nvPr/>
        </p:nvSpPr>
        <p:spPr>
          <a:xfrm>
            <a:off x="8430768" y="2761488"/>
            <a:ext cx="640080" cy="32918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PASS</a:t>
            </a:r>
            <a:endParaRPr lang="en-US" sz="900" dirty="0"/>
          </a:p>
        </p:txBody>
      </p:sp>
      <p:sp>
        <p:nvSpPr>
          <p:cNvPr id="47" name="Text 45"/>
          <p:cNvSpPr/>
          <p:nvPr/>
        </p:nvSpPr>
        <p:spPr>
          <a:xfrm>
            <a:off x="4773168" y="2706624"/>
            <a:ext cx="3566160" cy="256032"/>
          </a:xfrm>
          <a:prstGeom prst="rect">
            <a:avLst/>
          </a:prstGeom>
          <a:noFill/>
          <a:ln/>
        </p:spPr>
        <p:txBody>
          <a:bodyPr wrap="square" lIns="0" tIns="0" rIns="0" bIns="0" rtlCol="0" anchor="ctr"/>
          <a:lstStyle/>
          <a:p>
            <a:r>
              <a:rPr lang="en-CA" sz="1100" b="1" dirty="0">
                <a:solidFill>
                  <a:srgbClr val="00B050"/>
                </a:solidFill>
              </a:rPr>
              <a:t>Sensor Request Without Verification</a:t>
            </a:r>
            <a:endParaRPr lang="en-US" sz="1100" b="1" dirty="0">
              <a:solidFill>
                <a:srgbClr val="00B050"/>
              </a:solidFill>
            </a:endParaRPr>
          </a:p>
        </p:txBody>
      </p:sp>
      <p:sp>
        <p:nvSpPr>
          <p:cNvPr id="48" name="Text 46"/>
          <p:cNvSpPr/>
          <p:nvPr/>
        </p:nvSpPr>
        <p:spPr>
          <a:xfrm>
            <a:off x="4773168" y="2962656"/>
            <a:ext cx="3566160" cy="219456"/>
          </a:xfrm>
          <a:prstGeom prst="rect">
            <a:avLst/>
          </a:prstGeom>
          <a:noFill/>
          <a:ln/>
        </p:spPr>
        <p:txBody>
          <a:bodyPr wrap="square" lIns="0" tIns="0" rIns="0" bIns="0" rtlCol="0" anchor="ctr"/>
          <a:lstStyle/>
          <a:p>
            <a:r>
              <a:rPr lang="en-US" sz="1000" dirty="0">
                <a:solidFill>
                  <a:schemeClr val="bg1"/>
                </a:solidFill>
              </a:rPr>
              <a:t>Blocks request when client not verified</a:t>
            </a:r>
          </a:p>
        </p:txBody>
      </p:sp>
      <p:sp>
        <p:nvSpPr>
          <p:cNvPr id="49" name="Shape 47"/>
          <p:cNvSpPr/>
          <p:nvPr/>
        </p:nvSpPr>
        <p:spPr>
          <a:xfrm>
            <a:off x="4663440" y="3291840"/>
            <a:ext cx="4160520" cy="530352"/>
          </a:xfrm>
          <a:prstGeom prst="rect">
            <a:avLst/>
          </a:prstGeom>
          <a:solidFill>
            <a:srgbClr val="2C3E50"/>
          </a:solidFill>
          <a:ln w="12700">
            <a:solidFill>
              <a:srgbClr val="1B4F72">
                <a:alpha val="60000"/>
              </a:srgbClr>
            </a:solidFill>
            <a:prstDash val="solid"/>
          </a:ln>
        </p:spPr>
        <p:txBody>
          <a:bodyPr/>
          <a:lstStyle/>
          <a:p>
            <a:endParaRPr lang="en-CA"/>
          </a:p>
        </p:txBody>
      </p:sp>
      <p:sp>
        <p:nvSpPr>
          <p:cNvPr id="50" name="Shape 48"/>
          <p:cNvSpPr/>
          <p:nvPr/>
        </p:nvSpPr>
        <p:spPr>
          <a:xfrm>
            <a:off x="8430768" y="3383280"/>
            <a:ext cx="640080" cy="329184"/>
          </a:xfrm>
          <a:prstGeom prst="rect">
            <a:avLst/>
          </a:prstGeom>
          <a:solidFill>
            <a:srgbClr val="27AE60"/>
          </a:solidFill>
          <a:ln w="12700">
            <a:solidFill>
              <a:srgbClr val="27AE60"/>
            </a:solidFill>
            <a:prstDash val="solid"/>
          </a:ln>
        </p:spPr>
        <p:txBody>
          <a:bodyPr/>
          <a:lstStyle/>
          <a:p>
            <a:endParaRPr lang="en-CA"/>
          </a:p>
        </p:txBody>
      </p:sp>
      <p:sp>
        <p:nvSpPr>
          <p:cNvPr id="51" name="Text 49"/>
          <p:cNvSpPr/>
          <p:nvPr/>
        </p:nvSpPr>
        <p:spPr>
          <a:xfrm>
            <a:off x="8430768" y="3383280"/>
            <a:ext cx="640080" cy="32918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PASS</a:t>
            </a:r>
            <a:endParaRPr lang="en-US" sz="900" dirty="0"/>
          </a:p>
        </p:txBody>
      </p:sp>
      <p:sp>
        <p:nvSpPr>
          <p:cNvPr id="52" name="Text 50"/>
          <p:cNvSpPr/>
          <p:nvPr/>
        </p:nvSpPr>
        <p:spPr>
          <a:xfrm>
            <a:off x="4773168" y="3328416"/>
            <a:ext cx="3566160" cy="256032"/>
          </a:xfrm>
          <a:prstGeom prst="rect">
            <a:avLst/>
          </a:prstGeom>
          <a:noFill/>
          <a:ln/>
        </p:spPr>
        <p:txBody>
          <a:bodyPr wrap="square" lIns="0" tIns="0" rIns="0" bIns="0" rtlCol="0" anchor="ctr"/>
          <a:lstStyle/>
          <a:p>
            <a:r>
              <a:rPr lang="en-CA" sz="1100" b="1" dirty="0">
                <a:solidFill>
                  <a:srgbClr val="00B050"/>
                </a:solidFill>
              </a:rPr>
              <a:t>Sensor Request After Verification</a:t>
            </a:r>
            <a:endParaRPr lang="en-US" sz="1100" b="1" dirty="0">
              <a:solidFill>
                <a:srgbClr val="00B050"/>
              </a:solidFill>
            </a:endParaRPr>
          </a:p>
        </p:txBody>
      </p:sp>
      <p:sp>
        <p:nvSpPr>
          <p:cNvPr id="53" name="Text 51"/>
          <p:cNvSpPr/>
          <p:nvPr/>
        </p:nvSpPr>
        <p:spPr>
          <a:xfrm>
            <a:off x="4773168" y="3584448"/>
            <a:ext cx="3566160" cy="219456"/>
          </a:xfrm>
          <a:prstGeom prst="rect">
            <a:avLst/>
          </a:prstGeom>
          <a:noFill/>
          <a:ln/>
        </p:spPr>
        <p:txBody>
          <a:bodyPr wrap="square" lIns="0" tIns="0" rIns="0" bIns="0" rtlCol="0" anchor="ctr"/>
          <a:lstStyle/>
          <a:p>
            <a:pPr marL="0" indent="0">
              <a:buNone/>
            </a:pPr>
            <a:r>
              <a:rPr lang="en-US" sz="1000" dirty="0">
                <a:solidFill>
                  <a:schemeClr val="bg1"/>
                </a:solidFill>
                <a:latin typeface="Calibri" pitchFamily="34" charset="0"/>
                <a:ea typeface="Calibri" pitchFamily="34" charset="-122"/>
                <a:cs typeface="Calibri" pitchFamily="34" charset="-120"/>
              </a:rPr>
              <a:t>VERIFY packet transitions state to VERIFIED</a:t>
            </a:r>
            <a:endParaRPr lang="en-US" sz="1000" dirty="0">
              <a:solidFill>
                <a:schemeClr val="bg1"/>
              </a:solidFill>
            </a:endParaRPr>
          </a:p>
        </p:txBody>
      </p:sp>
      <p:sp>
        <p:nvSpPr>
          <p:cNvPr id="54" name="Shape 52"/>
          <p:cNvSpPr/>
          <p:nvPr/>
        </p:nvSpPr>
        <p:spPr>
          <a:xfrm>
            <a:off x="4663440" y="3913632"/>
            <a:ext cx="4160520" cy="530352"/>
          </a:xfrm>
          <a:prstGeom prst="rect">
            <a:avLst/>
          </a:prstGeom>
          <a:solidFill>
            <a:srgbClr val="2C3E50"/>
          </a:solidFill>
          <a:ln w="12700">
            <a:solidFill>
              <a:srgbClr val="1B4F72">
                <a:alpha val="60000"/>
              </a:srgbClr>
            </a:solidFill>
            <a:prstDash val="solid"/>
          </a:ln>
        </p:spPr>
        <p:txBody>
          <a:bodyPr/>
          <a:lstStyle/>
          <a:p>
            <a:endParaRPr lang="en-CA"/>
          </a:p>
        </p:txBody>
      </p:sp>
      <p:sp>
        <p:nvSpPr>
          <p:cNvPr id="55" name="Shape 53"/>
          <p:cNvSpPr/>
          <p:nvPr/>
        </p:nvSpPr>
        <p:spPr>
          <a:xfrm>
            <a:off x="8430768" y="4005072"/>
            <a:ext cx="640080" cy="329184"/>
          </a:xfrm>
          <a:prstGeom prst="rect">
            <a:avLst/>
          </a:prstGeom>
          <a:solidFill>
            <a:srgbClr val="27AE60"/>
          </a:solidFill>
          <a:ln w="12700">
            <a:solidFill>
              <a:srgbClr val="27AE60"/>
            </a:solidFill>
            <a:prstDash val="solid"/>
          </a:ln>
        </p:spPr>
        <p:txBody>
          <a:bodyPr/>
          <a:lstStyle/>
          <a:p>
            <a:endParaRPr lang="en-CA"/>
          </a:p>
        </p:txBody>
      </p:sp>
      <p:sp>
        <p:nvSpPr>
          <p:cNvPr id="56" name="Text 54"/>
          <p:cNvSpPr/>
          <p:nvPr/>
        </p:nvSpPr>
        <p:spPr>
          <a:xfrm>
            <a:off x="8430768" y="4005072"/>
            <a:ext cx="640080" cy="32918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PASS</a:t>
            </a:r>
            <a:endParaRPr lang="en-US" sz="900" dirty="0"/>
          </a:p>
        </p:txBody>
      </p:sp>
      <p:sp>
        <p:nvSpPr>
          <p:cNvPr id="57" name="Text 55"/>
          <p:cNvSpPr/>
          <p:nvPr/>
        </p:nvSpPr>
        <p:spPr>
          <a:xfrm>
            <a:off x="4773168" y="3950208"/>
            <a:ext cx="3566160" cy="256032"/>
          </a:xfrm>
          <a:prstGeom prst="rect">
            <a:avLst/>
          </a:prstGeom>
          <a:noFill/>
          <a:ln/>
        </p:spPr>
        <p:txBody>
          <a:bodyPr wrap="square" lIns="0" tIns="0" rIns="0" bIns="0" rtlCol="0" anchor="ctr"/>
          <a:lstStyle/>
          <a:p>
            <a:r>
              <a:rPr lang="en-CA" sz="1100" b="1" dirty="0">
                <a:solidFill>
                  <a:srgbClr val="00B050"/>
                </a:solidFill>
              </a:rPr>
              <a:t>Disconnect Request Handling</a:t>
            </a:r>
            <a:endParaRPr lang="en-US" sz="1100" b="1" dirty="0">
              <a:solidFill>
                <a:srgbClr val="00B050"/>
              </a:solidFill>
            </a:endParaRPr>
          </a:p>
        </p:txBody>
      </p:sp>
      <p:sp>
        <p:nvSpPr>
          <p:cNvPr id="58" name="Text 56"/>
          <p:cNvSpPr/>
          <p:nvPr/>
        </p:nvSpPr>
        <p:spPr>
          <a:xfrm>
            <a:off x="4773168" y="4206240"/>
            <a:ext cx="3566160" cy="219456"/>
          </a:xfrm>
          <a:prstGeom prst="rect">
            <a:avLst/>
          </a:prstGeom>
          <a:noFill/>
          <a:ln/>
        </p:spPr>
        <p:txBody>
          <a:bodyPr wrap="square" lIns="0" tIns="0" rIns="0" bIns="0" rtlCol="0" anchor="ctr"/>
          <a:lstStyle/>
          <a:p>
            <a:r>
              <a:rPr lang="en-US" sz="1000" dirty="0">
                <a:solidFill>
                  <a:schemeClr val="bg1"/>
                </a:solidFill>
              </a:rPr>
              <a:t>Processes disconnect and returns success response</a:t>
            </a:r>
          </a:p>
        </p:txBody>
      </p:sp>
      <p:sp>
        <p:nvSpPr>
          <p:cNvPr id="59" name="Shape 25">
            <a:extLst>
              <a:ext uri="{FF2B5EF4-FFF2-40B4-BE49-F238E27FC236}">
                <a16:creationId xmlns:a16="http://schemas.microsoft.com/office/drawing/2014/main" id="{4918DCF2-3700-BB34-C950-9C671C6D6D76}"/>
              </a:ext>
            </a:extLst>
          </p:cNvPr>
          <p:cNvSpPr/>
          <p:nvPr/>
        </p:nvSpPr>
        <p:spPr>
          <a:xfrm>
            <a:off x="365760" y="4541095"/>
            <a:ext cx="4023360" cy="530352"/>
          </a:xfrm>
          <a:prstGeom prst="rect">
            <a:avLst/>
          </a:prstGeom>
          <a:solidFill>
            <a:srgbClr val="2C3E50"/>
          </a:solidFill>
          <a:ln w="12700">
            <a:solidFill>
              <a:srgbClr val="1B4F72">
                <a:alpha val="60000"/>
              </a:srgbClr>
            </a:solidFill>
            <a:prstDash val="solid"/>
          </a:ln>
        </p:spPr>
        <p:txBody>
          <a:bodyPr/>
          <a:lstStyle/>
          <a:p>
            <a:endParaRPr lang="en-CA"/>
          </a:p>
        </p:txBody>
      </p:sp>
      <p:sp>
        <p:nvSpPr>
          <p:cNvPr id="60" name="Text 28">
            <a:extLst>
              <a:ext uri="{FF2B5EF4-FFF2-40B4-BE49-F238E27FC236}">
                <a16:creationId xmlns:a16="http://schemas.microsoft.com/office/drawing/2014/main" id="{6D48339A-92F1-0813-B314-444490B4FFC5}"/>
              </a:ext>
            </a:extLst>
          </p:cNvPr>
          <p:cNvSpPr/>
          <p:nvPr/>
        </p:nvSpPr>
        <p:spPr>
          <a:xfrm>
            <a:off x="457200" y="4613113"/>
            <a:ext cx="3429000" cy="256032"/>
          </a:xfrm>
          <a:prstGeom prst="rect">
            <a:avLst/>
          </a:prstGeom>
          <a:noFill/>
          <a:ln/>
        </p:spPr>
        <p:txBody>
          <a:bodyPr wrap="square" lIns="0" tIns="0" rIns="0" bIns="0" rtlCol="0" anchor="ctr"/>
          <a:lstStyle/>
          <a:p>
            <a:r>
              <a:rPr lang="en-CA" sz="1100" b="1" dirty="0">
                <a:solidFill>
                  <a:srgbClr val="00B0F0"/>
                </a:solidFill>
              </a:rPr>
              <a:t>Packet Utility Function Test</a:t>
            </a:r>
            <a:endParaRPr lang="en-US" sz="1100" b="1" dirty="0">
              <a:solidFill>
                <a:srgbClr val="00B0F0"/>
              </a:solidFill>
            </a:endParaRPr>
          </a:p>
        </p:txBody>
      </p:sp>
      <p:sp>
        <p:nvSpPr>
          <p:cNvPr id="61" name="Text 29">
            <a:extLst>
              <a:ext uri="{FF2B5EF4-FFF2-40B4-BE49-F238E27FC236}">
                <a16:creationId xmlns:a16="http://schemas.microsoft.com/office/drawing/2014/main" id="{2F17CD1C-7A4E-A1A6-93C1-D92F07977AFE}"/>
              </a:ext>
            </a:extLst>
          </p:cNvPr>
          <p:cNvSpPr/>
          <p:nvPr/>
        </p:nvSpPr>
        <p:spPr>
          <a:xfrm>
            <a:off x="457200" y="4869145"/>
            <a:ext cx="3429000" cy="219456"/>
          </a:xfrm>
          <a:prstGeom prst="rect">
            <a:avLst/>
          </a:prstGeom>
          <a:noFill/>
          <a:ln/>
        </p:spPr>
        <p:txBody>
          <a:bodyPr wrap="square" lIns="0" tIns="0" rIns="0" bIns="0" rtlCol="0" anchor="ctr"/>
          <a:lstStyle/>
          <a:p>
            <a:r>
              <a:rPr lang="en-US" sz="1000" dirty="0">
                <a:solidFill>
                  <a:schemeClr val="bg1"/>
                </a:solidFill>
              </a:rPr>
              <a:t>Creates packet with correct header values</a:t>
            </a:r>
          </a:p>
        </p:txBody>
      </p:sp>
      <p:sp>
        <p:nvSpPr>
          <p:cNvPr id="66" name="Shape 26">
            <a:extLst>
              <a:ext uri="{FF2B5EF4-FFF2-40B4-BE49-F238E27FC236}">
                <a16:creationId xmlns:a16="http://schemas.microsoft.com/office/drawing/2014/main" id="{51107E1F-03EC-4F87-950A-1BE0F10FBC54}"/>
              </a:ext>
            </a:extLst>
          </p:cNvPr>
          <p:cNvSpPr/>
          <p:nvPr/>
        </p:nvSpPr>
        <p:spPr>
          <a:xfrm>
            <a:off x="4005072" y="4629275"/>
            <a:ext cx="640080" cy="329184"/>
          </a:xfrm>
          <a:prstGeom prst="rect">
            <a:avLst/>
          </a:prstGeom>
          <a:solidFill>
            <a:srgbClr val="27AE60"/>
          </a:solidFill>
          <a:ln w="12700">
            <a:solidFill>
              <a:srgbClr val="27AE60"/>
            </a:solidFill>
            <a:prstDash val="solid"/>
          </a:ln>
        </p:spPr>
        <p:txBody>
          <a:bodyPr/>
          <a:lstStyle/>
          <a:p>
            <a:endParaRPr lang="en-CA"/>
          </a:p>
        </p:txBody>
      </p:sp>
      <p:sp>
        <p:nvSpPr>
          <p:cNvPr id="65" name="Text 27">
            <a:extLst>
              <a:ext uri="{FF2B5EF4-FFF2-40B4-BE49-F238E27FC236}">
                <a16:creationId xmlns:a16="http://schemas.microsoft.com/office/drawing/2014/main" id="{136A0DFA-615B-111A-86A5-7AB8231CE67E}"/>
              </a:ext>
            </a:extLst>
          </p:cNvPr>
          <p:cNvSpPr/>
          <p:nvPr/>
        </p:nvSpPr>
        <p:spPr>
          <a:xfrm>
            <a:off x="4000500" y="4616090"/>
            <a:ext cx="640080" cy="32918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PASS</a:t>
            </a:r>
            <a:endParaRPr lang="en-US" sz="900" dirty="0"/>
          </a:p>
        </p:txBody>
      </p:sp>
      <p:sp>
        <p:nvSpPr>
          <p:cNvPr id="67" name="Shape 52">
            <a:extLst>
              <a:ext uri="{FF2B5EF4-FFF2-40B4-BE49-F238E27FC236}">
                <a16:creationId xmlns:a16="http://schemas.microsoft.com/office/drawing/2014/main" id="{37458DA0-904B-8D33-9061-9A7F2D434F7F}"/>
              </a:ext>
            </a:extLst>
          </p:cNvPr>
          <p:cNvSpPr/>
          <p:nvPr/>
        </p:nvSpPr>
        <p:spPr>
          <a:xfrm>
            <a:off x="4663440" y="4561226"/>
            <a:ext cx="4160520" cy="530352"/>
          </a:xfrm>
          <a:prstGeom prst="rect">
            <a:avLst/>
          </a:prstGeom>
          <a:solidFill>
            <a:srgbClr val="2C3E50"/>
          </a:solidFill>
          <a:ln w="12700">
            <a:solidFill>
              <a:srgbClr val="1B4F72">
                <a:alpha val="60000"/>
              </a:srgbClr>
            </a:solidFill>
            <a:prstDash val="solid"/>
          </a:ln>
        </p:spPr>
        <p:txBody>
          <a:bodyPr/>
          <a:lstStyle/>
          <a:p>
            <a:endParaRPr lang="en-CA"/>
          </a:p>
        </p:txBody>
      </p:sp>
      <p:sp>
        <p:nvSpPr>
          <p:cNvPr id="68" name="Shape 53">
            <a:extLst>
              <a:ext uri="{FF2B5EF4-FFF2-40B4-BE49-F238E27FC236}">
                <a16:creationId xmlns:a16="http://schemas.microsoft.com/office/drawing/2014/main" id="{EFD193B3-D94C-342C-655F-EA1D5E0B23A4}"/>
              </a:ext>
            </a:extLst>
          </p:cNvPr>
          <p:cNvSpPr/>
          <p:nvPr/>
        </p:nvSpPr>
        <p:spPr>
          <a:xfrm>
            <a:off x="8430768" y="4652666"/>
            <a:ext cx="640080" cy="329184"/>
          </a:xfrm>
          <a:prstGeom prst="rect">
            <a:avLst/>
          </a:prstGeom>
          <a:solidFill>
            <a:srgbClr val="27AE60"/>
          </a:solidFill>
          <a:ln w="12700">
            <a:solidFill>
              <a:srgbClr val="27AE60"/>
            </a:solidFill>
            <a:prstDash val="solid"/>
          </a:ln>
        </p:spPr>
        <p:txBody>
          <a:bodyPr/>
          <a:lstStyle/>
          <a:p>
            <a:endParaRPr lang="en-CA"/>
          </a:p>
        </p:txBody>
      </p:sp>
      <p:sp>
        <p:nvSpPr>
          <p:cNvPr id="69" name="Text 54">
            <a:extLst>
              <a:ext uri="{FF2B5EF4-FFF2-40B4-BE49-F238E27FC236}">
                <a16:creationId xmlns:a16="http://schemas.microsoft.com/office/drawing/2014/main" id="{8FFBB34D-3168-7B21-6954-1DB3B3238920}"/>
              </a:ext>
            </a:extLst>
          </p:cNvPr>
          <p:cNvSpPr/>
          <p:nvPr/>
        </p:nvSpPr>
        <p:spPr>
          <a:xfrm>
            <a:off x="8430768" y="4652666"/>
            <a:ext cx="640080" cy="32918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PASS</a:t>
            </a:r>
            <a:endParaRPr lang="en-US" sz="900" dirty="0"/>
          </a:p>
        </p:txBody>
      </p:sp>
      <p:sp>
        <p:nvSpPr>
          <p:cNvPr id="70" name="Text 55">
            <a:extLst>
              <a:ext uri="{FF2B5EF4-FFF2-40B4-BE49-F238E27FC236}">
                <a16:creationId xmlns:a16="http://schemas.microsoft.com/office/drawing/2014/main" id="{5910CB48-562D-672E-7AC6-1FA7A19995C8}"/>
              </a:ext>
            </a:extLst>
          </p:cNvPr>
          <p:cNvSpPr/>
          <p:nvPr/>
        </p:nvSpPr>
        <p:spPr>
          <a:xfrm>
            <a:off x="4773168" y="4597802"/>
            <a:ext cx="3566160" cy="256032"/>
          </a:xfrm>
          <a:prstGeom prst="rect">
            <a:avLst/>
          </a:prstGeom>
          <a:noFill/>
          <a:ln/>
        </p:spPr>
        <p:txBody>
          <a:bodyPr wrap="square" lIns="0" tIns="0" rIns="0" bIns="0" rtlCol="0" anchor="ctr"/>
          <a:lstStyle/>
          <a:p>
            <a:r>
              <a:rPr lang="en-CA" sz="1100" b="1" dirty="0">
                <a:solidFill>
                  <a:srgbClr val="00B050"/>
                </a:solidFill>
              </a:rPr>
              <a:t>Server State After Verification</a:t>
            </a:r>
            <a:endParaRPr lang="en-US" sz="1100" b="1" dirty="0">
              <a:solidFill>
                <a:srgbClr val="00B050"/>
              </a:solidFill>
            </a:endParaRPr>
          </a:p>
        </p:txBody>
      </p:sp>
      <p:sp>
        <p:nvSpPr>
          <p:cNvPr id="71" name="Text 56">
            <a:extLst>
              <a:ext uri="{FF2B5EF4-FFF2-40B4-BE49-F238E27FC236}">
                <a16:creationId xmlns:a16="http://schemas.microsoft.com/office/drawing/2014/main" id="{47D849A5-DCEC-9A9B-993B-14B33AB3C0BE}"/>
              </a:ext>
            </a:extLst>
          </p:cNvPr>
          <p:cNvSpPr/>
          <p:nvPr/>
        </p:nvSpPr>
        <p:spPr>
          <a:xfrm>
            <a:off x="4773168" y="4853834"/>
            <a:ext cx="3566160" cy="219456"/>
          </a:xfrm>
          <a:prstGeom prst="rect">
            <a:avLst/>
          </a:prstGeom>
          <a:noFill/>
          <a:ln/>
        </p:spPr>
        <p:txBody>
          <a:bodyPr wrap="square" lIns="0" tIns="0" rIns="0" bIns="0" rtlCol="0" anchor="ctr"/>
          <a:lstStyle/>
          <a:p>
            <a:r>
              <a:rPr lang="en-US" sz="1000" dirty="0">
                <a:solidFill>
                  <a:schemeClr val="bg1"/>
                </a:solidFill>
              </a:rPr>
              <a:t>Updates server state to verified correctly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ABC9C"/>
          </a:solidFill>
          <a:ln w="12700">
            <a:solidFill>
              <a:srgbClr val="1ABC9C"/>
            </a:solidFill>
            <a:prstDash val="solid"/>
          </a:ln>
        </p:spPr>
        <p:txBody>
          <a:bodyPr/>
          <a:lstStyle/>
          <a:p>
            <a:endParaRPr lang="en-CA"/>
          </a:p>
        </p:txBody>
      </p:sp>
      <p:sp>
        <p:nvSpPr>
          <p:cNvPr id="3" name="Text 1"/>
          <p:cNvSpPr/>
          <p:nvPr/>
        </p:nvSpPr>
        <p:spPr>
          <a:xfrm>
            <a:off x="457200" y="164592"/>
            <a:ext cx="8229600" cy="502920"/>
          </a:xfrm>
          <a:prstGeom prst="rect">
            <a:avLst/>
          </a:prstGeom>
          <a:noFill/>
          <a:ln/>
        </p:spPr>
        <p:txBody>
          <a:bodyPr wrap="square" lIns="0" tIns="0" rIns="0" bIns="0" rtlCol="0" anchor="ctr"/>
          <a:lstStyle/>
          <a:p>
            <a:pPr marL="0" indent="0" algn="l">
              <a:buNone/>
            </a:pPr>
            <a:r>
              <a:rPr lang="en-US" sz="2600" b="1" dirty="0">
                <a:solidFill>
                  <a:schemeClr val="accent4"/>
                </a:solidFill>
                <a:latin typeface="Calibri" pitchFamily="34" charset="0"/>
                <a:ea typeface="Calibri" pitchFamily="34" charset="-122"/>
                <a:cs typeface="Calibri" pitchFamily="34" charset="-120"/>
              </a:rPr>
              <a:t>Integration Testing  —  End-to-End</a:t>
            </a:r>
            <a:endParaRPr lang="en-US" sz="2600" dirty="0">
              <a:solidFill>
                <a:schemeClr val="accent4"/>
              </a:solidFill>
            </a:endParaRPr>
          </a:p>
        </p:txBody>
      </p:sp>
      <p:sp>
        <p:nvSpPr>
          <p:cNvPr id="4" name="Shape 2"/>
          <p:cNvSpPr/>
          <p:nvPr/>
        </p:nvSpPr>
        <p:spPr>
          <a:xfrm>
            <a:off x="457200" y="713232"/>
            <a:ext cx="8229600" cy="22860"/>
          </a:xfrm>
          <a:prstGeom prst="rect">
            <a:avLst/>
          </a:prstGeom>
          <a:solidFill>
            <a:srgbClr val="3498DB"/>
          </a:solidFill>
          <a:ln w="12700">
            <a:solidFill>
              <a:srgbClr val="3498DB"/>
            </a:solidFill>
            <a:prstDash val="solid"/>
          </a:ln>
        </p:spPr>
        <p:txBody>
          <a:bodyPr/>
          <a:lstStyle/>
          <a:p>
            <a:endParaRPr lang="en-CA"/>
          </a:p>
        </p:txBody>
      </p:sp>
      <p:sp>
        <p:nvSpPr>
          <p:cNvPr id="12" name="Shape 25">
            <a:extLst>
              <a:ext uri="{FF2B5EF4-FFF2-40B4-BE49-F238E27FC236}">
                <a16:creationId xmlns:a16="http://schemas.microsoft.com/office/drawing/2014/main" id="{488B0BF1-6984-B548-033D-9CB04C992896}"/>
              </a:ext>
            </a:extLst>
          </p:cNvPr>
          <p:cNvSpPr/>
          <p:nvPr/>
        </p:nvSpPr>
        <p:spPr>
          <a:xfrm>
            <a:off x="457199" y="1216648"/>
            <a:ext cx="7148623" cy="530352"/>
          </a:xfrm>
          <a:prstGeom prst="rect">
            <a:avLst/>
          </a:prstGeom>
          <a:solidFill>
            <a:srgbClr val="2C3E50"/>
          </a:solidFill>
          <a:ln w="12700">
            <a:solidFill>
              <a:srgbClr val="1B4F72">
                <a:alpha val="60000"/>
              </a:srgbClr>
            </a:solidFill>
            <a:prstDash val="solid"/>
          </a:ln>
        </p:spPr>
        <p:txBody>
          <a:bodyPr/>
          <a:lstStyle/>
          <a:p>
            <a:endParaRPr lang="en-CA"/>
          </a:p>
        </p:txBody>
      </p:sp>
      <p:sp>
        <p:nvSpPr>
          <p:cNvPr id="13" name="Text 28">
            <a:extLst>
              <a:ext uri="{FF2B5EF4-FFF2-40B4-BE49-F238E27FC236}">
                <a16:creationId xmlns:a16="http://schemas.microsoft.com/office/drawing/2014/main" id="{C08ABC5F-EF0C-3BF3-10BA-4FAE14BD0E03}"/>
              </a:ext>
            </a:extLst>
          </p:cNvPr>
          <p:cNvSpPr/>
          <p:nvPr/>
        </p:nvSpPr>
        <p:spPr>
          <a:xfrm>
            <a:off x="548640" y="1288666"/>
            <a:ext cx="3429000" cy="256032"/>
          </a:xfrm>
          <a:prstGeom prst="rect">
            <a:avLst/>
          </a:prstGeom>
          <a:noFill/>
          <a:ln/>
        </p:spPr>
        <p:txBody>
          <a:bodyPr wrap="square" lIns="0" tIns="0" rIns="0" bIns="0" rtlCol="0" anchor="ctr"/>
          <a:lstStyle/>
          <a:p>
            <a:r>
              <a:rPr lang="en-CA" sz="1100" b="1" dirty="0">
                <a:solidFill>
                  <a:schemeClr val="accent4"/>
                </a:solidFill>
              </a:rPr>
              <a:t>Client-Server Connection Test</a:t>
            </a:r>
            <a:endParaRPr lang="en-US" sz="1100" b="1" dirty="0">
              <a:solidFill>
                <a:schemeClr val="accent4"/>
              </a:solidFill>
            </a:endParaRPr>
          </a:p>
        </p:txBody>
      </p:sp>
      <p:sp>
        <p:nvSpPr>
          <p:cNvPr id="14" name="Text 29">
            <a:extLst>
              <a:ext uri="{FF2B5EF4-FFF2-40B4-BE49-F238E27FC236}">
                <a16:creationId xmlns:a16="http://schemas.microsoft.com/office/drawing/2014/main" id="{201B046C-62D8-9048-533C-7E2C4ABEF26B}"/>
              </a:ext>
            </a:extLst>
          </p:cNvPr>
          <p:cNvSpPr/>
          <p:nvPr/>
        </p:nvSpPr>
        <p:spPr>
          <a:xfrm>
            <a:off x="548640" y="1544698"/>
            <a:ext cx="3429000" cy="219456"/>
          </a:xfrm>
          <a:prstGeom prst="rect">
            <a:avLst/>
          </a:prstGeom>
          <a:noFill/>
          <a:ln/>
        </p:spPr>
        <p:txBody>
          <a:bodyPr wrap="square" lIns="0" tIns="0" rIns="0" bIns="0" rtlCol="0" anchor="ctr"/>
          <a:lstStyle/>
          <a:p>
            <a:r>
              <a:rPr lang="en-US" sz="1000" dirty="0">
                <a:solidFill>
                  <a:schemeClr val="bg1"/>
                </a:solidFill>
              </a:rPr>
              <a:t>Establishes TCP connection between client server</a:t>
            </a:r>
          </a:p>
        </p:txBody>
      </p:sp>
      <p:sp>
        <p:nvSpPr>
          <p:cNvPr id="15" name="Shape 26">
            <a:extLst>
              <a:ext uri="{FF2B5EF4-FFF2-40B4-BE49-F238E27FC236}">
                <a16:creationId xmlns:a16="http://schemas.microsoft.com/office/drawing/2014/main" id="{CB6990FA-95E1-CEC7-97E3-2C4434A8CC16}"/>
              </a:ext>
            </a:extLst>
          </p:cNvPr>
          <p:cNvSpPr/>
          <p:nvPr/>
        </p:nvSpPr>
        <p:spPr>
          <a:xfrm>
            <a:off x="7533309" y="1321556"/>
            <a:ext cx="640080" cy="329184"/>
          </a:xfrm>
          <a:prstGeom prst="rect">
            <a:avLst/>
          </a:prstGeom>
          <a:solidFill>
            <a:srgbClr val="27AE60"/>
          </a:solidFill>
          <a:ln w="12700">
            <a:solidFill>
              <a:srgbClr val="27AE60"/>
            </a:solidFill>
            <a:prstDash val="solid"/>
          </a:ln>
        </p:spPr>
        <p:txBody>
          <a:bodyPr/>
          <a:lstStyle/>
          <a:p>
            <a:endParaRPr lang="en-CA"/>
          </a:p>
        </p:txBody>
      </p:sp>
      <p:sp>
        <p:nvSpPr>
          <p:cNvPr id="16" name="Text 27">
            <a:extLst>
              <a:ext uri="{FF2B5EF4-FFF2-40B4-BE49-F238E27FC236}">
                <a16:creationId xmlns:a16="http://schemas.microsoft.com/office/drawing/2014/main" id="{01E20D65-194F-E33B-4664-A3A2169F7A8E}"/>
              </a:ext>
            </a:extLst>
          </p:cNvPr>
          <p:cNvSpPr/>
          <p:nvPr/>
        </p:nvSpPr>
        <p:spPr>
          <a:xfrm>
            <a:off x="7528737" y="1308371"/>
            <a:ext cx="640080" cy="32918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PASS</a:t>
            </a:r>
            <a:endParaRPr lang="en-US" sz="900" dirty="0"/>
          </a:p>
        </p:txBody>
      </p:sp>
      <p:sp>
        <p:nvSpPr>
          <p:cNvPr id="17" name="Shape 25">
            <a:extLst>
              <a:ext uri="{FF2B5EF4-FFF2-40B4-BE49-F238E27FC236}">
                <a16:creationId xmlns:a16="http://schemas.microsoft.com/office/drawing/2014/main" id="{C632C0B1-DB43-87D4-44B0-574116F3FE4D}"/>
              </a:ext>
            </a:extLst>
          </p:cNvPr>
          <p:cNvSpPr/>
          <p:nvPr/>
        </p:nvSpPr>
        <p:spPr>
          <a:xfrm>
            <a:off x="457200" y="2130162"/>
            <a:ext cx="7148623" cy="530352"/>
          </a:xfrm>
          <a:prstGeom prst="rect">
            <a:avLst/>
          </a:prstGeom>
          <a:solidFill>
            <a:srgbClr val="2C3E50"/>
          </a:solidFill>
          <a:ln w="12700">
            <a:solidFill>
              <a:srgbClr val="1B4F72">
                <a:alpha val="60000"/>
              </a:srgbClr>
            </a:solidFill>
            <a:prstDash val="solid"/>
          </a:ln>
        </p:spPr>
        <p:txBody>
          <a:bodyPr/>
          <a:lstStyle/>
          <a:p>
            <a:endParaRPr lang="en-CA"/>
          </a:p>
        </p:txBody>
      </p:sp>
      <p:sp>
        <p:nvSpPr>
          <p:cNvPr id="18" name="Text 28">
            <a:extLst>
              <a:ext uri="{FF2B5EF4-FFF2-40B4-BE49-F238E27FC236}">
                <a16:creationId xmlns:a16="http://schemas.microsoft.com/office/drawing/2014/main" id="{972D2BD9-35DD-41EE-E7BD-DB7C1DDD8987}"/>
              </a:ext>
            </a:extLst>
          </p:cNvPr>
          <p:cNvSpPr/>
          <p:nvPr/>
        </p:nvSpPr>
        <p:spPr>
          <a:xfrm>
            <a:off x="548641" y="2202180"/>
            <a:ext cx="3429000" cy="256032"/>
          </a:xfrm>
          <a:prstGeom prst="rect">
            <a:avLst/>
          </a:prstGeom>
          <a:noFill/>
          <a:ln/>
        </p:spPr>
        <p:txBody>
          <a:bodyPr wrap="square" lIns="0" tIns="0" rIns="0" bIns="0" rtlCol="0" anchor="ctr"/>
          <a:lstStyle/>
          <a:p>
            <a:r>
              <a:rPr lang="en-CA" sz="1100" b="1" dirty="0">
                <a:solidFill>
                  <a:schemeClr val="accent4"/>
                </a:solidFill>
              </a:rPr>
              <a:t>Verification Flow Integration Test</a:t>
            </a:r>
            <a:endParaRPr lang="en-US" sz="1100" b="1" dirty="0">
              <a:solidFill>
                <a:schemeClr val="accent4"/>
              </a:solidFill>
            </a:endParaRPr>
          </a:p>
        </p:txBody>
      </p:sp>
      <p:sp>
        <p:nvSpPr>
          <p:cNvPr id="19" name="Text 29">
            <a:extLst>
              <a:ext uri="{FF2B5EF4-FFF2-40B4-BE49-F238E27FC236}">
                <a16:creationId xmlns:a16="http://schemas.microsoft.com/office/drawing/2014/main" id="{3129B061-E428-BDC6-3994-EFA96F62B772}"/>
              </a:ext>
            </a:extLst>
          </p:cNvPr>
          <p:cNvSpPr/>
          <p:nvPr/>
        </p:nvSpPr>
        <p:spPr>
          <a:xfrm>
            <a:off x="548641" y="2458212"/>
            <a:ext cx="3429000" cy="219456"/>
          </a:xfrm>
          <a:prstGeom prst="rect">
            <a:avLst/>
          </a:prstGeom>
          <a:noFill/>
          <a:ln/>
        </p:spPr>
        <p:txBody>
          <a:bodyPr wrap="square" lIns="0" tIns="0" rIns="0" bIns="0" rtlCol="0" anchor="ctr"/>
          <a:lstStyle/>
          <a:p>
            <a:r>
              <a:rPr lang="en-US" sz="1000" dirty="0">
                <a:solidFill>
                  <a:schemeClr val="bg1"/>
                </a:solidFill>
              </a:rPr>
              <a:t>Sends verification request and receives response</a:t>
            </a:r>
          </a:p>
        </p:txBody>
      </p:sp>
      <p:sp>
        <p:nvSpPr>
          <p:cNvPr id="20" name="Shape 26">
            <a:extLst>
              <a:ext uri="{FF2B5EF4-FFF2-40B4-BE49-F238E27FC236}">
                <a16:creationId xmlns:a16="http://schemas.microsoft.com/office/drawing/2014/main" id="{EDC87DE2-4A64-FA80-7990-A76A958E112C}"/>
              </a:ext>
            </a:extLst>
          </p:cNvPr>
          <p:cNvSpPr/>
          <p:nvPr/>
        </p:nvSpPr>
        <p:spPr>
          <a:xfrm>
            <a:off x="7533310" y="2235070"/>
            <a:ext cx="640080" cy="329184"/>
          </a:xfrm>
          <a:prstGeom prst="rect">
            <a:avLst/>
          </a:prstGeom>
          <a:solidFill>
            <a:srgbClr val="27AE60"/>
          </a:solidFill>
          <a:ln w="12700">
            <a:solidFill>
              <a:srgbClr val="27AE60"/>
            </a:solidFill>
            <a:prstDash val="solid"/>
          </a:ln>
        </p:spPr>
        <p:txBody>
          <a:bodyPr/>
          <a:lstStyle/>
          <a:p>
            <a:endParaRPr lang="en-CA"/>
          </a:p>
        </p:txBody>
      </p:sp>
      <p:sp>
        <p:nvSpPr>
          <p:cNvPr id="21" name="Text 27">
            <a:extLst>
              <a:ext uri="{FF2B5EF4-FFF2-40B4-BE49-F238E27FC236}">
                <a16:creationId xmlns:a16="http://schemas.microsoft.com/office/drawing/2014/main" id="{2CCB6FFB-4F2E-C329-CAC1-6111B188D354}"/>
              </a:ext>
            </a:extLst>
          </p:cNvPr>
          <p:cNvSpPr/>
          <p:nvPr/>
        </p:nvSpPr>
        <p:spPr>
          <a:xfrm>
            <a:off x="7528738" y="2221885"/>
            <a:ext cx="640080" cy="32918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PASS</a:t>
            </a:r>
            <a:endParaRPr lang="en-US" sz="900" dirty="0"/>
          </a:p>
        </p:txBody>
      </p:sp>
      <p:sp>
        <p:nvSpPr>
          <p:cNvPr id="22" name="Shape 25">
            <a:extLst>
              <a:ext uri="{FF2B5EF4-FFF2-40B4-BE49-F238E27FC236}">
                <a16:creationId xmlns:a16="http://schemas.microsoft.com/office/drawing/2014/main" id="{CE10D942-681F-1F65-B352-380C30C1CC50}"/>
              </a:ext>
            </a:extLst>
          </p:cNvPr>
          <p:cNvSpPr/>
          <p:nvPr/>
        </p:nvSpPr>
        <p:spPr>
          <a:xfrm>
            <a:off x="457199" y="3077984"/>
            <a:ext cx="7148623" cy="530352"/>
          </a:xfrm>
          <a:prstGeom prst="rect">
            <a:avLst/>
          </a:prstGeom>
          <a:solidFill>
            <a:srgbClr val="2C3E50"/>
          </a:solidFill>
          <a:ln w="12700">
            <a:solidFill>
              <a:srgbClr val="1B4F72">
                <a:alpha val="60000"/>
              </a:srgbClr>
            </a:solidFill>
            <a:prstDash val="solid"/>
          </a:ln>
        </p:spPr>
        <p:txBody>
          <a:bodyPr/>
          <a:lstStyle/>
          <a:p>
            <a:endParaRPr lang="en-CA"/>
          </a:p>
        </p:txBody>
      </p:sp>
      <p:sp>
        <p:nvSpPr>
          <p:cNvPr id="23" name="Text 28">
            <a:extLst>
              <a:ext uri="{FF2B5EF4-FFF2-40B4-BE49-F238E27FC236}">
                <a16:creationId xmlns:a16="http://schemas.microsoft.com/office/drawing/2014/main" id="{521F4D8D-5394-FAD2-30D9-DC72BAC62A5C}"/>
              </a:ext>
            </a:extLst>
          </p:cNvPr>
          <p:cNvSpPr/>
          <p:nvPr/>
        </p:nvSpPr>
        <p:spPr>
          <a:xfrm>
            <a:off x="548640" y="3150002"/>
            <a:ext cx="3429000" cy="256032"/>
          </a:xfrm>
          <a:prstGeom prst="rect">
            <a:avLst/>
          </a:prstGeom>
          <a:noFill/>
          <a:ln/>
        </p:spPr>
        <p:txBody>
          <a:bodyPr wrap="square" lIns="0" tIns="0" rIns="0" bIns="0" rtlCol="0" anchor="ctr"/>
          <a:lstStyle/>
          <a:p>
            <a:r>
              <a:rPr lang="en-US" sz="1100" b="1" dirty="0">
                <a:solidFill>
                  <a:schemeClr val="accent4"/>
                </a:solidFill>
              </a:rPr>
              <a:t>Sensor Request Without Verification Test</a:t>
            </a:r>
          </a:p>
        </p:txBody>
      </p:sp>
      <p:sp>
        <p:nvSpPr>
          <p:cNvPr id="24" name="Text 29">
            <a:extLst>
              <a:ext uri="{FF2B5EF4-FFF2-40B4-BE49-F238E27FC236}">
                <a16:creationId xmlns:a16="http://schemas.microsoft.com/office/drawing/2014/main" id="{6AE85D3F-36D4-7CFC-2491-91288E75AF78}"/>
              </a:ext>
            </a:extLst>
          </p:cNvPr>
          <p:cNvSpPr/>
          <p:nvPr/>
        </p:nvSpPr>
        <p:spPr>
          <a:xfrm>
            <a:off x="548640" y="3406034"/>
            <a:ext cx="3429000" cy="219456"/>
          </a:xfrm>
          <a:prstGeom prst="rect">
            <a:avLst/>
          </a:prstGeom>
          <a:noFill/>
          <a:ln/>
        </p:spPr>
        <p:txBody>
          <a:bodyPr wrap="square" lIns="0" tIns="0" rIns="0" bIns="0" rtlCol="0" anchor="ctr"/>
          <a:lstStyle/>
          <a:p>
            <a:r>
              <a:rPr lang="en-US" sz="1000" dirty="0">
                <a:solidFill>
                  <a:schemeClr val="bg1"/>
                </a:solidFill>
              </a:rPr>
              <a:t>Rejects sensor request without prior verification</a:t>
            </a:r>
          </a:p>
        </p:txBody>
      </p:sp>
      <p:sp>
        <p:nvSpPr>
          <p:cNvPr id="25" name="Shape 26">
            <a:extLst>
              <a:ext uri="{FF2B5EF4-FFF2-40B4-BE49-F238E27FC236}">
                <a16:creationId xmlns:a16="http://schemas.microsoft.com/office/drawing/2014/main" id="{8000A3EB-4E81-B88B-08F2-27A041789EFA}"/>
              </a:ext>
            </a:extLst>
          </p:cNvPr>
          <p:cNvSpPr/>
          <p:nvPr/>
        </p:nvSpPr>
        <p:spPr>
          <a:xfrm>
            <a:off x="7533309" y="3182892"/>
            <a:ext cx="640080" cy="329184"/>
          </a:xfrm>
          <a:prstGeom prst="rect">
            <a:avLst/>
          </a:prstGeom>
          <a:solidFill>
            <a:srgbClr val="27AE60"/>
          </a:solidFill>
          <a:ln w="12700">
            <a:solidFill>
              <a:srgbClr val="27AE60"/>
            </a:solidFill>
            <a:prstDash val="solid"/>
          </a:ln>
        </p:spPr>
        <p:txBody>
          <a:bodyPr/>
          <a:lstStyle/>
          <a:p>
            <a:endParaRPr lang="en-CA"/>
          </a:p>
        </p:txBody>
      </p:sp>
      <p:sp>
        <p:nvSpPr>
          <p:cNvPr id="26" name="Text 27">
            <a:extLst>
              <a:ext uri="{FF2B5EF4-FFF2-40B4-BE49-F238E27FC236}">
                <a16:creationId xmlns:a16="http://schemas.microsoft.com/office/drawing/2014/main" id="{F18CCB0B-A497-3B1E-416D-2330CC3C330B}"/>
              </a:ext>
            </a:extLst>
          </p:cNvPr>
          <p:cNvSpPr/>
          <p:nvPr/>
        </p:nvSpPr>
        <p:spPr>
          <a:xfrm>
            <a:off x="7528737" y="3169707"/>
            <a:ext cx="640080" cy="32918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PASS</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2">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74C3C"/>
          </a:solidFill>
          <a:ln w="12700">
            <a:solidFill>
              <a:srgbClr val="E74C3C"/>
            </a:solidFill>
            <a:prstDash val="solid"/>
          </a:ln>
        </p:spPr>
        <p:txBody>
          <a:bodyPr/>
          <a:lstStyle/>
          <a:p>
            <a:endParaRPr lang="en-CA"/>
          </a:p>
        </p:txBody>
      </p:sp>
      <p:sp>
        <p:nvSpPr>
          <p:cNvPr id="3" name="Text 1"/>
          <p:cNvSpPr/>
          <p:nvPr/>
        </p:nvSpPr>
        <p:spPr>
          <a:xfrm>
            <a:off x="457200" y="164592"/>
            <a:ext cx="8229600" cy="502920"/>
          </a:xfrm>
          <a:prstGeom prst="rect">
            <a:avLst/>
          </a:prstGeom>
          <a:noFill/>
          <a:ln/>
        </p:spPr>
        <p:txBody>
          <a:bodyPr wrap="square" lIns="0" tIns="0" rIns="0" bIns="0" rtlCol="0" anchor="ctr"/>
          <a:lstStyle/>
          <a:p>
            <a:pPr marL="0" indent="0" algn="l">
              <a:buNone/>
            </a:pPr>
            <a:r>
              <a:rPr lang="en-US" sz="2600" b="1" dirty="0">
                <a:solidFill>
                  <a:srgbClr val="FFFFFF"/>
                </a:solidFill>
                <a:latin typeface="Calibri" pitchFamily="34" charset="0"/>
                <a:ea typeface="Calibri" pitchFamily="34" charset="-122"/>
                <a:cs typeface="Calibri" pitchFamily="34" charset="-120"/>
              </a:rPr>
              <a:t>Issues Faced During Development</a:t>
            </a:r>
            <a:endParaRPr lang="en-US" sz="2600" dirty="0"/>
          </a:p>
        </p:txBody>
      </p:sp>
      <p:sp>
        <p:nvSpPr>
          <p:cNvPr id="4" name="Shape 2"/>
          <p:cNvSpPr/>
          <p:nvPr/>
        </p:nvSpPr>
        <p:spPr>
          <a:xfrm>
            <a:off x="457200" y="713232"/>
            <a:ext cx="8229600" cy="22860"/>
          </a:xfrm>
          <a:prstGeom prst="rect">
            <a:avLst/>
          </a:prstGeom>
          <a:solidFill>
            <a:srgbClr val="3498DB"/>
          </a:solidFill>
          <a:ln w="12700">
            <a:solidFill>
              <a:srgbClr val="3498DB"/>
            </a:solidFill>
            <a:prstDash val="solid"/>
          </a:ln>
        </p:spPr>
        <p:txBody>
          <a:bodyPr/>
          <a:lstStyle/>
          <a:p>
            <a:endParaRPr lang="en-CA"/>
          </a:p>
        </p:txBody>
      </p:sp>
      <p:sp>
        <p:nvSpPr>
          <p:cNvPr id="5" name="Shape 3"/>
          <p:cNvSpPr/>
          <p:nvPr/>
        </p:nvSpPr>
        <p:spPr>
          <a:xfrm>
            <a:off x="320040" y="960120"/>
            <a:ext cx="4251960" cy="1828800"/>
          </a:xfrm>
          <a:prstGeom prst="rect">
            <a:avLst/>
          </a:prstGeom>
          <a:solidFill>
            <a:srgbClr val="2C3E50"/>
          </a:solidFill>
          <a:ln w="12700">
            <a:solidFill>
              <a:srgbClr val="E74C3C"/>
            </a:solidFill>
            <a:prstDash val="solid"/>
          </a:ln>
        </p:spPr>
        <p:txBody>
          <a:bodyPr/>
          <a:lstStyle/>
          <a:p>
            <a:endParaRPr lang="en-CA"/>
          </a:p>
        </p:txBody>
      </p:sp>
      <p:sp>
        <p:nvSpPr>
          <p:cNvPr id="6" name="Shape 4"/>
          <p:cNvSpPr/>
          <p:nvPr/>
        </p:nvSpPr>
        <p:spPr>
          <a:xfrm>
            <a:off x="320040" y="960120"/>
            <a:ext cx="502920" cy="384048"/>
          </a:xfrm>
          <a:prstGeom prst="rect">
            <a:avLst/>
          </a:prstGeom>
          <a:solidFill>
            <a:srgbClr val="E74C3C"/>
          </a:solidFill>
          <a:ln w="12700">
            <a:solidFill>
              <a:srgbClr val="E74C3C"/>
            </a:solidFill>
            <a:prstDash val="solid"/>
          </a:ln>
        </p:spPr>
        <p:txBody>
          <a:bodyPr/>
          <a:lstStyle/>
          <a:p>
            <a:endParaRPr lang="en-CA"/>
          </a:p>
        </p:txBody>
      </p:sp>
      <p:sp>
        <p:nvSpPr>
          <p:cNvPr id="7" name="Text 5"/>
          <p:cNvSpPr/>
          <p:nvPr/>
        </p:nvSpPr>
        <p:spPr>
          <a:xfrm>
            <a:off x="320040" y="960120"/>
            <a:ext cx="50292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8" name="Text 6"/>
          <p:cNvSpPr/>
          <p:nvPr/>
        </p:nvSpPr>
        <p:spPr>
          <a:xfrm>
            <a:off x="914400" y="1014984"/>
            <a:ext cx="3566160" cy="292608"/>
          </a:xfrm>
          <a:prstGeom prst="rect">
            <a:avLst/>
          </a:prstGeom>
          <a:noFill/>
          <a:ln/>
        </p:spPr>
        <p:txBody>
          <a:bodyPr wrap="square" lIns="0" tIns="0" rIns="0" bIns="0" rtlCol="0" anchor="ctr"/>
          <a:lstStyle/>
          <a:p>
            <a:r>
              <a:rPr lang="en-CA" sz="1200" b="1" dirty="0">
                <a:solidFill>
                  <a:srgbClr val="FF6600"/>
                </a:solidFill>
              </a:rPr>
              <a:t>Server State Management Issue</a:t>
            </a:r>
            <a:endParaRPr lang="en-US" sz="1200" b="1" dirty="0">
              <a:solidFill>
                <a:srgbClr val="FF6600"/>
              </a:solidFill>
            </a:endParaRPr>
          </a:p>
        </p:txBody>
      </p:sp>
      <p:sp>
        <p:nvSpPr>
          <p:cNvPr id="9" name="Text 7"/>
          <p:cNvSpPr/>
          <p:nvPr/>
        </p:nvSpPr>
        <p:spPr>
          <a:xfrm>
            <a:off x="457200" y="1417320"/>
            <a:ext cx="731520" cy="256032"/>
          </a:xfrm>
          <a:prstGeom prst="rect">
            <a:avLst/>
          </a:prstGeom>
          <a:noFill/>
          <a:ln/>
        </p:spPr>
        <p:txBody>
          <a:bodyPr wrap="square" lIns="0" tIns="0" rIns="0" bIns="0" rtlCol="0" anchor="ctr"/>
          <a:lstStyle/>
          <a:p>
            <a:pPr marL="0" indent="0">
              <a:buNone/>
            </a:pPr>
            <a:r>
              <a:rPr lang="en-US" sz="1050" b="1" dirty="0">
                <a:solidFill>
                  <a:srgbClr val="BDC3C7"/>
                </a:solidFill>
                <a:latin typeface="Calibri" pitchFamily="34" charset="0"/>
                <a:ea typeface="Calibri" pitchFamily="34" charset="-122"/>
                <a:cs typeface="Calibri" pitchFamily="34" charset="-120"/>
              </a:rPr>
              <a:t>Problem:</a:t>
            </a:r>
            <a:endParaRPr lang="en-US" sz="1050" dirty="0"/>
          </a:p>
        </p:txBody>
      </p:sp>
      <p:sp>
        <p:nvSpPr>
          <p:cNvPr id="10" name="Text 8"/>
          <p:cNvSpPr/>
          <p:nvPr/>
        </p:nvSpPr>
        <p:spPr>
          <a:xfrm>
            <a:off x="457200" y="1655064"/>
            <a:ext cx="4023360" cy="457200"/>
          </a:xfrm>
          <a:prstGeom prst="rect">
            <a:avLst/>
          </a:prstGeom>
          <a:noFill/>
          <a:ln/>
        </p:spPr>
        <p:txBody>
          <a:bodyPr wrap="square" lIns="0" tIns="0" rIns="0" bIns="0" rtlCol="0" anchor="ctr"/>
          <a:lstStyle/>
          <a:p>
            <a:r>
              <a:rPr lang="en-US" sz="1100" dirty="0">
                <a:solidFill>
                  <a:schemeClr val="bg1"/>
                </a:solidFill>
              </a:rPr>
              <a:t>The server initially allowed commands like sensor requests before verification, violating the required state machine logic.</a:t>
            </a:r>
          </a:p>
        </p:txBody>
      </p:sp>
      <p:sp>
        <p:nvSpPr>
          <p:cNvPr id="11" name="Text 9"/>
          <p:cNvSpPr/>
          <p:nvPr/>
        </p:nvSpPr>
        <p:spPr>
          <a:xfrm>
            <a:off x="457200" y="2148840"/>
            <a:ext cx="731520" cy="256032"/>
          </a:xfrm>
          <a:prstGeom prst="rect">
            <a:avLst/>
          </a:prstGeom>
          <a:noFill/>
          <a:ln/>
        </p:spPr>
        <p:txBody>
          <a:bodyPr wrap="square" lIns="0" tIns="0" rIns="0" bIns="0" rtlCol="0" anchor="ctr"/>
          <a:lstStyle/>
          <a:p>
            <a:pPr marL="0" indent="0">
              <a:buNone/>
            </a:pPr>
            <a:r>
              <a:rPr lang="en-US" sz="1050" b="1" dirty="0">
                <a:solidFill>
                  <a:srgbClr val="27AE60"/>
                </a:solidFill>
                <a:latin typeface="Calibri" pitchFamily="34" charset="0"/>
                <a:ea typeface="Calibri" pitchFamily="34" charset="-122"/>
                <a:cs typeface="Calibri" pitchFamily="34" charset="-120"/>
              </a:rPr>
              <a:t>Solution:</a:t>
            </a:r>
            <a:endParaRPr lang="en-US" sz="1050" dirty="0"/>
          </a:p>
        </p:txBody>
      </p:sp>
      <p:sp>
        <p:nvSpPr>
          <p:cNvPr id="12" name="Text 10"/>
          <p:cNvSpPr/>
          <p:nvPr/>
        </p:nvSpPr>
        <p:spPr>
          <a:xfrm>
            <a:off x="457200" y="2386584"/>
            <a:ext cx="3944679" cy="352045"/>
          </a:xfrm>
          <a:prstGeom prst="rect">
            <a:avLst/>
          </a:prstGeom>
          <a:noFill/>
          <a:ln/>
        </p:spPr>
        <p:txBody>
          <a:bodyPr wrap="square" lIns="0" tIns="0" rIns="0" bIns="0" rtlCol="0" anchor="ctr"/>
          <a:lstStyle/>
          <a:p>
            <a:r>
              <a:rPr lang="en-US" sz="1000" dirty="0">
                <a:solidFill>
                  <a:schemeClr val="bg1"/>
                </a:solidFill>
              </a:rPr>
              <a:t>We implemented strict state validation checks and ensured all commands are processed only after successful verification, enforcing protocol rules.</a:t>
            </a:r>
          </a:p>
        </p:txBody>
      </p:sp>
      <p:sp>
        <p:nvSpPr>
          <p:cNvPr id="13" name="Shape 11"/>
          <p:cNvSpPr/>
          <p:nvPr/>
        </p:nvSpPr>
        <p:spPr>
          <a:xfrm>
            <a:off x="4754880" y="960120"/>
            <a:ext cx="4251960" cy="1828800"/>
          </a:xfrm>
          <a:prstGeom prst="rect">
            <a:avLst/>
          </a:prstGeom>
          <a:solidFill>
            <a:srgbClr val="2C3E50"/>
          </a:solidFill>
          <a:ln w="12700">
            <a:solidFill>
              <a:srgbClr val="F39C12"/>
            </a:solidFill>
            <a:prstDash val="solid"/>
          </a:ln>
        </p:spPr>
        <p:txBody>
          <a:bodyPr/>
          <a:lstStyle/>
          <a:p>
            <a:endParaRPr lang="en-CA"/>
          </a:p>
        </p:txBody>
      </p:sp>
      <p:sp>
        <p:nvSpPr>
          <p:cNvPr id="14" name="Shape 12"/>
          <p:cNvSpPr/>
          <p:nvPr/>
        </p:nvSpPr>
        <p:spPr>
          <a:xfrm>
            <a:off x="4754880" y="960120"/>
            <a:ext cx="502920" cy="384048"/>
          </a:xfrm>
          <a:prstGeom prst="rect">
            <a:avLst/>
          </a:prstGeom>
          <a:solidFill>
            <a:srgbClr val="F39C12"/>
          </a:solidFill>
          <a:ln w="12700">
            <a:solidFill>
              <a:srgbClr val="F39C12"/>
            </a:solidFill>
            <a:prstDash val="solid"/>
          </a:ln>
        </p:spPr>
        <p:txBody>
          <a:bodyPr/>
          <a:lstStyle/>
          <a:p>
            <a:endParaRPr lang="en-CA"/>
          </a:p>
        </p:txBody>
      </p:sp>
      <p:sp>
        <p:nvSpPr>
          <p:cNvPr id="15" name="Text 13"/>
          <p:cNvSpPr/>
          <p:nvPr/>
        </p:nvSpPr>
        <p:spPr>
          <a:xfrm>
            <a:off x="4754880" y="960120"/>
            <a:ext cx="50292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16" name="Text 14"/>
          <p:cNvSpPr/>
          <p:nvPr/>
        </p:nvSpPr>
        <p:spPr>
          <a:xfrm>
            <a:off x="5349240" y="1014984"/>
            <a:ext cx="3566160" cy="292608"/>
          </a:xfrm>
          <a:prstGeom prst="rect">
            <a:avLst/>
          </a:prstGeom>
          <a:noFill/>
          <a:ln/>
        </p:spPr>
        <p:txBody>
          <a:bodyPr wrap="square" lIns="0" tIns="0" rIns="0" bIns="0" rtlCol="0" anchor="ctr"/>
          <a:lstStyle/>
          <a:p>
            <a:r>
              <a:rPr lang="en-CA" sz="1200" b="1" dirty="0">
                <a:solidFill>
                  <a:schemeClr val="accent4"/>
                </a:solidFill>
              </a:rPr>
              <a:t>Client-Side Packet Handling Issue</a:t>
            </a:r>
            <a:endParaRPr lang="en-US" sz="1200" b="1" dirty="0">
              <a:solidFill>
                <a:schemeClr val="accent4"/>
              </a:solidFill>
            </a:endParaRPr>
          </a:p>
        </p:txBody>
      </p:sp>
      <p:sp>
        <p:nvSpPr>
          <p:cNvPr id="17" name="Text 15"/>
          <p:cNvSpPr/>
          <p:nvPr/>
        </p:nvSpPr>
        <p:spPr>
          <a:xfrm>
            <a:off x="4892040" y="1417320"/>
            <a:ext cx="731520" cy="256032"/>
          </a:xfrm>
          <a:prstGeom prst="rect">
            <a:avLst/>
          </a:prstGeom>
          <a:noFill/>
          <a:ln/>
        </p:spPr>
        <p:txBody>
          <a:bodyPr wrap="square" lIns="0" tIns="0" rIns="0" bIns="0" rtlCol="0" anchor="ctr"/>
          <a:lstStyle/>
          <a:p>
            <a:pPr marL="0" indent="0">
              <a:buNone/>
            </a:pPr>
            <a:r>
              <a:rPr lang="en-US" sz="1050" b="1" dirty="0">
                <a:solidFill>
                  <a:srgbClr val="BDC3C7"/>
                </a:solidFill>
                <a:latin typeface="Calibri" pitchFamily="34" charset="0"/>
                <a:ea typeface="Calibri" pitchFamily="34" charset="-122"/>
                <a:cs typeface="Calibri" pitchFamily="34" charset="-120"/>
              </a:rPr>
              <a:t>Problem:</a:t>
            </a:r>
            <a:endParaRPr lang="en-US" sz="1050" dirty="0"/>
          </a:p>
        </p:txBody>
      </p:sp>
      <p:sp>
        <p:nvSpPr>
          <p:cNvPr id="18" name="Text 16"/>
          <p:cNvSpPr/>
          <p:nvPr/>
        </p:nvSpPr>
        <p:spPr>
          <a:xfrm>
            <a:off x="4892040" y="1655064"/>
            <a:ext cx="4023360" cy="457200"/>
          </a:xfrm>
          <a:prstGeom prst="rect">
            <a:avLst/>
          </a:prstGeom>
          <a:noFill/>
          <a:ln/>
        </p:spPr>
        <p:txBody>
          <a:bodyPr wrap="square" lIns="0" tIns="0" rIns="0" bIns="0" rtlCol="0" anchor="ctr"/>
          <a:lstStyle/>
          <a:p>
            <a:r>
              <a:rPr lang="en-US" sz="1100" dirty="0">
                <a:solidFill>
                  <a:schemeClr val="bg1"/>
                </a:solidFill>
              </a:rPr>
              <a:t>The client initially failed to correctly process server responses due to improper handling of packet reception and deserialization.</a:t>
            </a:r>
          </a:p>
        </p:txBody>
      </p:sp>
      <p:sp>
        <p:nvSpPr>
          <p:cNvPr id="19" name="Text 17"/>
          <p:cNvSpPr/>
          <p:nvPr/>
        </p:nvSpPr>
        <p:spPr>
          <a:xfrm>
            <a:off x="4892040" y="2148840"/>
            <a:ext cx="731520" cy="256032"/>
          </a:xfrm>
          <a:prstGeom prst="rect">
            <a:avLst/>
          </a:prstGeom>
          <a:noFill/>
          <a:ln/>
        </p:spPr>
        <p:txBody>
          <a:bodyPr wrap="square" lIns="0" tIns="0" rIns="0" bIns="0" rtlCol="0" anchor="ctr"/>
          <a:lstStyle/>
          <a:p>
            <a:pPr marL="0" indent="0">
              <a:buNone/>
            </a:pPr>
            <a:r>
              <a:rPr lang="en-US" sz="1050" b="1" dirty="0">
                <a:solidFill>
                  <a:srgbClr val="27AE60"/>
                </a:solidFill>
                <a:latin typeface="Calibri" pitchFamily="34" charset="0"/>
                <a:ea typeface="Calibri" pitchFamily="34" charset="-122"/>
                <a:cs typeface="Calibri" pitchFamily="34" charset="-120"/>
              </a:rPr>
              <a:t>Solution:</a:t>
            </a:r>
            <a:endParaRPr lang="en-US" sz="1050" dirty="0"/>
          </a:p>
        </p:txBody>
      </p:sp>
      <p:sp>
        <p:nvSpPr>
          <p:cNvPr id="20" name="Text 18"/>
          <p:cNvSpPr/>
          <p:nvPr/>
        </p:nvSpPr>
        <p:spPr>
          <a:xfrm>
            <a:off x="4892040" y="2386584"/>
            <a:ext cx="4023360" cy="384048"/>
          </a:xfrm>
          <a:prstGeom prst="rect">
            <a:avLst/>
          </a:prstGeom>
          <a:noFill/>
          <a:ln/>
        </p:spPr>
        <p:txBody>
          <a:bodyPr wrap="square" lIns="0" tIns="0" rIns="0" bIns="0" rtlCol="0" anchor="ctr"/>
          <a:lstStyle/>
          <a:p>
            <a:r>
              <a:rPr lang="en-US" sz="1100" dirty="0">
                <a:solidFill>
                  <a:schemeClr val="bg1"/>
                </a:solidFill>
              </a:rPr>
              <a:t>We fixed this by implementing proper receive logic, ensuring complete packet data is read, and validating deserialization through unit tests.</a:t>
            </a:r>
          </a:p>
        </p:txBody>
      </p:sp>
      <p:sp>
        <p:nvSpPr>
          <p:cNvPr id="21" name="Shape 19"/>
          <p:cNvSpPr/>
          <p:nvPr/>
        </p:nvSpPr>
        <p:spPr>
          <a:xfrm>
            <a:off x="320040" y="2926080"/>
            <a:ext cx="4251960" cy="1828800"/>
          </a:xfrm>
          <a:prstGeom prst="rect">
            <a:avLst/>
          </a:prstGeom>
          <a:solidFill>
            <a:srgbClr val="2C3E50"/>
          </a:solidFill>
          <a:ln w="12700">
            <a:solidFill>
              <a:srgbClr val="5DADE2"/>
            </a:solidFill>
            <a:prstDash val="solid"/>
          </a:ln>
        </p:spPr>
        <p:txBody>
          <a:bodyPr/>
          <a:lstStyle/>
          <a:p>
            <a:endParaRPr lang="en-CA"/>
          </a:p>
        </p:txBody>
      </p:sp>
      <p:sp>
        <p:nvSpPr>
          <p:cNvPr id="22" name="Shape 20"/>
          <p:cNvSpPr/>
          <p:nvPr/>
        </p:nvSpPr>
        <p:spPr>
          <a:xfrm>
            <a:off x="320040" y="2926080"/>
            <a:ext cx="502920" cy="384048"/>
          </a:xfrm>
          <a:prstGeom prst="rect">
            <a:avLst/>
          </a:prstGeom>
          <a:solidFill>
            <a:srgbClr val="5DADE2"/>
          </a:solidFill>
          <a:ln w="12700">
            <a:solidFill>
              <a:srgbClr val="5DADE2"/>
            </a:solidFill>
            <a:prstDash val="solid"/>
          </a:ln>
        </p:spPr>
        <p:txBody>
          <a:bodyPr/>
          <a:lstStyle/>
          <a:p>
            <a:endParaRPr lang="en-CA"/>
          </a:p>
        </p:txBody>
      </p:sp>
      <p:sp>
        <p:nvSpPr>
          <p:cNvPr id="23" name="Text 21"/>
          <p:cNvSpPr/>
          <p:nvPr/>
        </p:nvSpPr>
        <p:spPr>
          <a:xfrm>
            <a:off x="320040" y="2926080"/>
            <a:ext cx="50292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24" name="Text 22"/>
          <p:cNvSpPr/>
          <p:nvPr/>
        </p:nvSpPr>
        <p:spPr>
          <a:xfrm>
            <a:off x="914400" y="2980944"/>
            <a:ext cx="3566160" cy="292608"/>
          </a:xfrm>
          <a:prstGeom prst="rect">
            <a:avLst/>
          </a:prstGeom>
          <a:noFill/>
          <a:ln/>
        </p:spPr>
        <p:txBody>
          <a:bodyPr wrap="square" lIns="0" tIns="0" rIns="0" bIns="0" rtlCol="0" anchor="ctr"/>
          <a:lstStyle/>
          <a:p>
            <a:r>
              <a:rPr lang="en-CA" sz="1200" b="1" dirty="0">
                <a:solidFill>
                  <a:schemeClr val="accent1">
                    <a:lumMod val="40000"/>
                    <a:lumOff val="60000"/>
                  </a:schemeClr>
                </a:solidFill>
              </a:rPr>
              <a:t>Integration Testing Difficulties</a:t>
            </a:r>
            <a:endParaRPr lang="en-US" sz="1200" b="1" dirty="0">
              <a:solidFill>
                <a:schemeClr val="accent1">
                  <a:lumMod val="40000"/>
                  <a:lumOff val="60000"/>
                </a:schemeClr>
              </a:solidFill>
            </a:endParaRPr>
          </a:p>
        </p:txBody>
      </p:sp>
      <p:sp>
        <p:nvSpPr>
          <p:cNvPr id="25" name="Text 23"/>
          <p:cNvSpPr/>
          <p:nvPr/>
        </p:nvSpPr>
        <p:spPr>
          <a:xfrm>
            <a:off x="457200" y="3383280"/>
            <a:ext cx="731520" cy="256032"/>
          </a:xfrm>
          <a:prstGeom prst="rect">
            <a:avLst/>
          </a:prstGeom>
          <a:noFill/>
          <a:ln/>
        </p:spPr>
        <p:txBody>
          <a:bodyPr wrap="square" lIns="0" tIns="0" rIns="0" bIns="0" rtlCol="0" anchor="ctr"/>
          <a:lstStyle/>
          <a:p>
            <a:pPr marL="0" indent="0">
              <a:buNone/>
            </a:pPr>
            <a:r>
              <a:rPr lang="en-US" sz="1050" b="1" dirty="0">
                <a:solidFill>
                  <a:srgbClr val="BDC3C7"/>
                </a:solidFill>
                <a:latin typeface="Calibri" pitchFamily="34" charset="0"/>
                <a:ea typeface="Calibri" pitchFamily="34" charset="-122"/>
                <a:cs typeface="Calibri" pitchFamily="34" charset="-120"/>
              </a:rPr>
              <a:t>Problem:</a:t>
            </a:r>
            <a:endParaRPr lang="en-US" sz="1050" dirty="0"/>
          </a:p>
        </p:txBody>
      </p:sp>
      <p:sp>
        <p:nvSpPr>
          <p:cNvPr id="26" name="Text 24"/>
          <p:cNvSpPr/>
          <p:nvPr/>
        </p:nvSpPr>
        <p:spPr>
          <a:xfrm>
            <a:off x="457200" y="3621024"/>
            <a:ext cx="4023360" cy="457200"/>
          </a:xfrm>
          <a:prstGeom prst="rect">
            <a:avLst/>
          </a:prstGeom>
          <a:noFill/>
          <a:ln/>
        </p:spPr>
        <p:txBody>
          <a:bodyPr wrap="square" lIns="0" tIns="0" rIns="0" bIns="0" rtlCol="0" anchor="ctr"/>
          <a:lstStyle/>
          <a:p>
            <a:r>
              <a:rPr lang="en-US" sz="1100" dirty="0">
                <a:solidFill>
                  <a:schemeClr val="bg1"/>
                </a:solidFill>
              </a:rPr>
              <a:t>Faced timing issues where the client tried to connect before the server was fully started, and occasional port conflicts during repeated test runs.</a:t>
            </a:r>
          </a:p>
        </p:txBody>
      </p:sp>
      <p:sp>
        <p:nvSpPr>
          <p:cNvPr id="27" name="Text 25"/>
          <p:cNvSpPr/>
          <p:nvPr/>
        </p:nvSpPr>
        <p:spPr>
          <a:xfrm>
            <a:off x="457200" y="4114800"/>
            <a:ext cx="731520" cy="256032"/>
          </a:xfrm>
          <a:prstGeom prst="rect">
            <a:avLst/>
          </a:prstGeom>
          <a:noFill/>
          <a:ln/>
        </p:spPr>
        <p:txBody>
          <a:bodyPr wrap="square" lIns="0" tIns="0" rIns="0" bIns="0" rtlCol="0" anchor="ctr"/>
          <a:lstStyle/>
          <a:p>
            <a:pPr marL="0" indent="0">
              <a:buNone/>
            </a:pPr>
            <a:r>
              <a:rPr lang="en-US" sz="1050" b="1" dirty="0">
                <a:solidFill>
                  <a:srgbClr val="27AE60"/>
                </a:solidFill>
                <a:latin typeface="Calibri" pitchFamily="34" charset="0"/>
                <a:ea typeface="Calibri" pitchFamily="34" charset="-122"/>
                <a:cs typeface="Calibri" pitchFamily="34" charset="-120"/>
              </a:rPr>
              <a:t>Solution:</a:t>
            </a:r>
            <a:endParaRPr lang="en-US" sz="1050" dirty="0"/>
          </a:p>
        </p:txBody>
      </p:sp>
      <p:sp>
        <p:nvSpPr>
          <p:cNvPr id="28" name="Text 26"/>
          <p:cNvSpPr/>
          <p:nvPr/>
        </p:nvSpPr>
        <p:spPr>
          <a:xfrm>
            <a:off x="457200" y="4352544"/>
            <a:ext cx="4023360" cy="384048"/>
          </a:xfrm>
          <a:prstGeom prst="rect">
            <a:avLst/>
          </a:prstGeom>
          <a:noFill/>
          <a:ln/>
        </p:spPr>
        <p:txBody>
          <a:bodyPr wrap="square" lIns="0" tIns="0" rIns="0" bIns="0" rtlCol="0" anchor="ctr"/>
          <a:lstStyle/>
          <a:p>
            <a:r>
              <a:rPr lang="en-US" sz="1100" dirty="0">
                <a:solidFill>
                  <a:schemeClr val="bg1"/>
                </a:solidFill>
              </a:rPr>
              <a:t>Added small delays to ensure server startup, and improved socket cleanup to avoid port reuse issues.</a:t>
            </a:r>
          </a:p>
        </p:txBody>
      </p:sp>
      <p:sp>
        <p:nvSpPr>
          <p:cNvPr id="29" name="Shape 27"/>
          <p:cNvSpPr/>
          <p:nvPr/>
        </p:nvSpPr>
        <p:spPr>
          <a:xfrm>
            <a:off x="4754880" y="2926080"/>
            <a:ext cx="4251960" cy="1828800"/>
          </a:xfrm>
          <a:prstGeom prst="rect">
            <a:avLst/>
          </a:prstGeom>
          <a:solidFill>
            <a:srgbClr val="2C3E50"/>
          </a:solidFill>
          <a:ln w="12700">
            <a:solidFill>
              <a:srgbClr val="1ABC9C"/>
            </a:solidFill>
            <a:prstDash val="solid"/>
          </a:ln>
        </p:spPr>
        <p:txBody>
          <a:bodyPr/>
          <a:lstStyle/>
          <a:p>
            <a:endParaRPr lang="en-CA"/>
          </a:p>
        </p:txBody>
      </p:sp>
      <p:sp>
        <p:nvSpPr>
          <p:cNvPr id="30" name="Shape 28"/>
          <p:cNvSpPr/>
          <p:nvPr/>
        </p:nvSpPr>
        <p:spPr>
          <a:xfrm>
            <a:off x="4754880" y="2926080"/>
            <a:ext cx="502920" cy="384048"/>
          </a:xfrm>
          <a:prstGeom prst="rect">
            <a:avLst/>
          </a:prstGeom>
          <a:solidFill>
            <a:srgbClr val="1ABC9C"/>
          </a:solidFill>
          <a:ln w="12700">
            <a:solidFill>
              <a:srgbClr val="1ABC9C"/>
            </a:solidFill>
            <a:prstDash val="solid"/>
          </a:ln>
        </p:spPr>
        <p:txBody>
          <a:bodyPr/>
          <a:lstStyle/>
          <a:p>
            <a:endParaRPr lang="en-CA"/>
          </a:p>
        </p:txBody>
      </p:sp>
      <p:sp>
        <p:nvSpPr>
          <p:cNvPr id="31" name="Text 29"/>
          <p:cNvSpPr/>
          <p:nvPr/>
        </p:nvSpPr>
        <p:spPr>
          <a:xfrm>
            <a:off x="4754880" y="2926080"/>
            <a:ext cx="50292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32" name="Text 30"/>
          <p:cNvSpPr/>
          <p:nvPr/>
        </p:nvSpPr>
        <p:spPr>
          <a:xfrm>
            <a:off x="5349240" y="2980944"/>
            <a:ext cx="3566160" cy="292608"/>
          </a:xfrm>
          <a:prstGeom prst="rect">
            <a:avLst/>
          </a:prstGeom>
          <a:noFill/>
          <a:ln/>
        </p:spPr>
        <p:txBody>
          <a:bodyPr wrap="square" lIns="0" tIns="0" rIns="0" bIns="0" rtlCol="0" anchor="ctr"/>
          <a:lstStyle/>
          <a:p>
            <a:r>
              <a:rPr lang="en-US" sz="1200" b="1" dirty="0">
                <a:solidFill>
                  <a:srgbClr val="00B050"/>
                </a:solidFill>
              </a:rPr>
              <a:t>Project Setup / Git Sync Issues</a:t>
            </a:r>
          </a:p>
        </p:txBody>
      </p:sp>
      <p:sp>
        <p:nvSpPr>
          <p:cNvPr id="33" name="Text 31"/>
          <p:cNvSpPr/>
          <p:nvPr/>
        </p:nvSpPr>
        <p:spPr>
          <a:xfrm>
            <a:off x="4892040" y="3383280"/>
            <a:ext cx="731520" cy="256032"/>
          </a:xfrm>
          <a:prstGeom prst="rect">
            <a:avLst/>
          </a:prstGeom>
          <a:noFill/>
          <a:ln/>
        </p:spPr>
        <p:txBody>
          <a:bodyPr wrap="square" lIns="0" tIns="0" rIns="0" bIns="0" rtlCol="0" anchor="ctr"/>
          <a:lstStyle/>
          <a:p>
            <a:pPr marL="0" indent="0">
              <a:buNone/>
            </a:pPr>
            <a:r>
              <a:rPr lang="en-US" sz="1050" b="1" dirty="0">
                <a:solidFill>
                  <a:srgbClr val="BDC3C7"/>
                </a:solidFill>
                <a:latin typeface="Calibri" pitchFamily="34" charset="0"/>
                <a:ea typeface="Calibri" pitchFamily="34" charset="-122"/>
                <a:cs typeface="Calibri" pitchFamily="34" charset="-120"/>
              </a:rPr>
              <a:t>Problem:</a:t>
            </a:r>
            <a:endParaRPr lang="en-US" sz="1050" dirty="0"/>
          </a:p>
        </p:txBody>
      </p:sp>
      <p:sp>
        <p:nvSpPr>
          <p:cNvPr id="34" name="Text 32"/>
          <p:cNvSpPr/>
          <p:nvPr/>
        </p:nvSpPr>
        <p:spPr>
          <a:xfrm>
            <a:off x="4892040" y="3621024"/>
            <a:ext cx="4023360" cy="457200"/>
          </a:xfrm>
          <a:prstGeom prst="rect">
            <a:avLst/>
          </a:prstGeom>
          <a:noFill/>
          <a:ln/>
        </p:spPr>
        <p:txBody>
          <a:bodyPr wrap="square" lIns="0" tIns="0" rIns="0" bIns="0" rtlCol="0" anchor="ctr"/>
          <a:lstStyle/>
          <a:p>
            <a:r>
              <a:rPr lang="en-US" sz="1100" dirty="0">
                <a:solidFill>
                  <a:schemeClr val="bg1"/>
                </a:solidFill>
              </a:rPr>
              <a:t>Whenever we pulled code from GitHub, the project frequently broke due to missing dependencies, incorrect project references, and mismatched configurations between team members.</a:t>
            </a:r>
          </a:p>
        </p:txBody>
      </p:sp>
      <p:sp>
        <p:nvSpPr>
          <p:cNvPr id="35" name="Text 33"/>
          <p:cNvSpPr/>
          <p:nvPr/>
        </p:nvSpPr>
        <p:spPr>
          <a:xfrm>
            <a:off x="4892040" y="4114800"/>
            <a:ext cx="731520" cy="256032"/>
          </a:xfrm>
          <a:prstGeom prst="rect">
            <a:avLst/>
          </a:prstGeom>
          <a:noFill/>
          <a:ln/>
        </p:spPr>
        <p:txBody>
          <a:bodyPr wrap="square" lIns="0" tIns="0" rIns="0" bIns="0" rtlCol="0" anchor="ctr"/>
          <a:lstStyle/>
          <a:p>
            <a:pPr marL="0" indent="0">
              <a:buNone/>
            </a:pPr>
            <a:r>
              <a:rPr lang="en-US" sz="1050" b="1" dirty="0">
                <a:solidFill>
                  <a:srgbClr val="27AE60"/>
                </a:solidFill>
                <a:latin typeface="Calibri" pitchFamily="34" charset="0"/>
                <a:ea typeface="Calibri" pitchFamily="34" charset="-122"/>
                <a:cs typeface="Calibri" pitchFamily="34" charset="-120"/>
              </a:rPr>
              <a:t>Solution:</a:t>
            </a:r>
            <a:endParaRPr lang="en-US" sz="1050" dirty="0"/>
          </a:p>
        </p:txBody>
      </p:sp>
      <p:sp>
        <p:nvSpPr>
          <p:cNvPr id="36" name="Text 34"/>
          <p:cNvSpPr/>
          <p:nvPr/>
        </p:nvSpPr>
        <p:spPr>
          <a:xfrm>
            <a:off x="4892040" y="4352544"/>
            <a:ext cx="4023360" cy="384048"/>
          </a:xfrm>
          <a:prstGeom prst="rect">
            <a:avLst/>
          </a:prstGeom>
          <a:noFill/>
          <a:ln/>
        </p:spPr>
        <p:txBody>
          <a:bodyPr wrap="square" lIns="0" tIns="0" rIns="0" bIns="0" rtlCol="0" anchor="ctr"/>
          <a:lstStyle/>
          <a:p>
            <a:r>
              <a:rPr lang="en-US" sz="900" dirty="0">
                <a:solidFill>
                  <a:schemeClr val="bg1"/>
                </a:solidFill>
              </a:rPr>
              <a:t>We standardized the project structure, ensured all required files were committed, and aligned include paths and build settings across all team members to maintain consistency.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4">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3498DB"/>
          </a:solidFill>
          <a:ln w="12700">
            <a:solidFill>
              <a:srgbClr val="3498DB"/>
            </a:solidFill>
            <a:prstDash val="solid"/>
          </a:ln>
        </p:spPr>
        <p:txBody>
          <a:bodyPr/>
          <a:lstStyle/>
          <a:p>
            <a:endParaRPr lang="en-CA"/>
          </a:p>
        </p:txBody>
      </p:sp>
      <p:sp>
        <p:nvSpPr>
          <p:cNvPr id="3" name="Shape 1"/>
          <p:cNvSpPr/>
          <p:nvPr/>
        </p:nvSpPr>
        <p:spPr>
          <a:xfrm>
            <a:off x="5943600" y="-731520"/>
            <a:ext cx="4114800" cy="4114800"/>
          </a:xfrm>
          <a:prstGeom prst="ellipse">
            <a:avLst/>
          </a:prstGeom>
          <a:solidFill>
            <a:srgbClr val="1B4F72">
              <a:alpha val="20000"/>
            </a:srgbClr>
          </a:solidFill>
          <a:ln w="12700">
            <a:solidFill>
              <a:srgbClr val="1B4F72">
                <a:alpha val="20000"/>
              </a:srgbClr>
            </a:solidFill>
            <a:prstDash val="solid"/>
          </a:ln>
        </p:spPr>
        <p:txBody>
          <a:bodyPr/>
          <a:lstStyle/>
          <a:p>
            <a:endParaRPr lang="en-CA"/>
          </a:p>
        </p:txBody>
      </p:sp>
      <p:sp>
        <p:nvSpPr>
          <p:cNvPr id="4" name="Shape 2"/>
          <p:cNvSpPr/>
          <p:nvPr/>
        </p:nvSpPr>
        <p:spPr>
          <a:xfrm>
            <a:off x="-731520" y="2743200"/>
            <a:ext cx="3200400" cy="3200400"/>
          </a:xfrm>
          <a:prstGeom prst="ellipse">
            <a:avLst/>
          </a:prstGeom>
          <a:solidFill>
            <a:srgbClr val="1ABC9C">
              <a:alpha val="15000"/>
            </a:srgbClr>
          </a:solidFill>
          <a:ln w="12700">
            <a:solidFill>
              <a:srgbClr val="1ABC9C">
                <a:alpha val="15000"/>
              </a:srgbClr>
            </a:solidFill>
            <a:prstDash val="solid"/>
          </a:ln>
        </p:spPr>
        <p:txBody>
          <a:bodyPr/>
          <a:lstStyle/>
          <a:p>
            <a:endParaRPr lang="en-CA"/>
          </a:p>
        </p:txBody>
      </p:sp>
      <p:sp>
        <p:nvSpPr>
          <p:cNvPr id="5" name="Text 3"/>
          <p:cNvSpPr/>
          <p:nvPr/>
        </p:nvSpPr>
        <p:spPr>
          <a:xfrm>
            <a:off x="457200" y="228600"/>
            <a:ext cx="8229600" cy="50292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Conclusion</a:t>
            </a:r>
            <a:endParaRPr lang="en-US" sz="2800" dirty="0"/>
          </a:p>
        </p:txBody>
      </p:sp>
      <p:sp>
        <p:nvSpPr>
          <p:cNvPr id="6" name="Shape 4"/>
          <p:cNvSpPr/>
          <p:nvPr/>
        </p:nvSpPr>
        <p:spPr>
          <a:xfrm>
            <a:off x="457200" y="777240"/>
            <a:ext cx="3200400" cy="45720"/>
          </a:xfrm>
          <a:prstGeom prst="rect">
            <a:avLst/>
          </a:prstGeom>
          <a:solidFill>
            <a:srgbClr val="3498DB"/>
          </a:solidFill>
          <a:ln w="12700">
            <a:solidFill>
              <a:srgbClr val="3498DB"/>
            </a:solidFill>
            <a:prstDash val="solid"/>
          </a:ln>
        </p:spPr>
        <p:txBody>
          <a:bodyPr/>
          <a:lstStyle/>
          <a:p>
            <a:endParaRPr lang="en-CA"/>
          </a:p>
        </p:txBody>
      </p:sp>
      <p:sp>
        <p:nvSpPr>
          <p:cNvPr id="7" name="Shape 5"/>
          <p:cNvSpPr/>
          <p:nvPr/>
        </p:nvSpPr>
        <p:spPr>
          <a:xfrm>
            <a:off x="365760" y="960120"/>
            <a:ext cx="1965960" cy="1005840"/>
          </a:xfrm>
          <a:prstGeom prst="rect">
            <a:avLst/>
          </a:prstGeom>
          <a:solidFill>
            <a:srgbClr val="2C3E50"/>
          </a:solidFill>
          <a:ln w="12700">
            <a:solidFill>
              <a:srgbClr val="3498DB"/>
            </a:solidFill>
            <a:prstDash val="solid"/>
          </a:ln>
        </p:spPr>
        <p:txBody>
          <a:bodyPr/>
          <a:lstStyle/>
          <a:p>
            <a:endParaRPr lang="en-CA"/>
          </a:p>
        </p:txBody>
      </p:sp>
      <p:sp>
        <p:nvSpPr>
          <p:cNvPr id="8" name="Text 6"/>
          <p:cNvSpPr/>
          <p:nvPr/>
        </p:nvSpPr>
        <p:spPr>
          <a:xfrm>
            <a:off x="365760" y="1005840"/>
            <a:ext cx="1965960" cy="457200"/>
          </a:xfrm>
          <a:prstGeom prst="rect">
            <a:avLst/>
          </a:prstGeom>
          <a:noFill/>
          <a:ln/>
        </p:spPr>
        <p:txBody>
          <a:bodyPr wrap="square" lIns="0" tIns="0" rIns="0" bIns="0" rtlCol="0" anchor="ctr"/>
          <a:lstStyle/>
          <a:p>
            <a:pPr marL="0" indent="0" algn="ctr">
              <a:buNone/>
            </a:pPr>
            <a:r>
              <a:rPr lang="en-US" sz="2200" b="1" dirty="0">
                <a:solidFill>
                  <a:srgbClr val="3498DB"/>
                </a:solidFill>
                <a:latin typeface="Calibri" pitchFamily="34" charset="0"/>
                <a:ea typeface="Calibri" pitchFamily="34" charset="-122"/>
                <a:cs typeface="Calibri" pitchFamily="34" charset="-120"/>
              </a:rPr>
              <a:t>TCP/IP</a:t>
            </a:r>
            <a:endParaRPr lang="en-US" sz="2200" dirty="0"/>
          </a:p>
        </p:txBody>
      </p:sp>
      <p:sp>
        <p:nvSpPr>
          <p:cNvPr id="9" name="Text 7"/>
          <p:cNvSpPr/>
          <p:nvPr/>
        </p:nvSpPr>
        <p:spPr>
          <a:xfrm>
            <a:off x="365760" y="1481328"/>
            <a:ext cx="1965960" cy="438912"/>
          </a:xfrm>
          <a:prstGeom prst="rect">
            <a:avLst/>
          </a:prstGeom>
          <a:noFill/>
          <a:ln/>
        </p:spPr>
        <p:txBody>
          <a:bodyPr wrap="square" lIns="0" tIns="0" rIns="0" bIns="0" rtlCol="0" anchor="ctr"/>
          <a:lstStyle/>
          <a:p>
            <a:pPr marL="0" indent="0" algn="ctr">
              <a:buNone/>
            </a:pPr>
            <a:r>
              <a:rPr lang="en-US" sz="1000" dirty="0">
                <a:solidFill>
                  <a:srgbClr val="BDC3C7"/>
                </a:solidFill>
                <a:latin typeface="Calibri" pitchFamily="34" charset="0"/>
                <a:ea typeface="Calibri" pitchFamily="34" charset="-122"/>
                <a:cs typeface="Calibri" pitchFamily="34" charset="-120"/>
              </a:rPr>
              <a:t>Reliable client-server connection</a:t>
            </a:r>
            <a:endParaRPr lang="en-US" sz="1000" dirty="0"/>
          </a:p>
        </p:txBody>
      </p:sp>
      <p:sp>
        <p:nvSpPr>
          <p:cNvPr id="10" name="Shape 8"/>
          <p:cNvSpPr/>
          <p:nvPr/>
        </p:nvSpPr>
        <p:spPr>
          <a:xfrm>
            <a:off x="2514600" y="960120"/>
            <a:ext cx="1965960" cy="1005840"/>
          </a:xfrm>
          <a:prstGeom prst="rect">
            <a:avLst/>
          </a:prstGeom>
          <a:solidFill>
            <a:srgbClr val="2C3E50"/>
          </a:solidFill>
          <a:ln w="12700">
            <a:solidFill>
              <a:srgbClr val="1ABC9C"/>
            </a:solidFill>
            <a:prstDash val="solid"/>
          </a:ln>
        </p:spPr>
        <p:txBody>
          <a:bodyPr/>
          <a:lstStyle/>
          <a:p>
            <a:endParaRPr lang="en-CA"/>
          </a:p>
        </p:txBody>
      </p:sp>
      <p:sp>
        <p:nvSpPr>
          <p:cNvPr id="11" name="Text 9"/>
          <p:cNvSpPr/>
          <p:nvPr/>
        </p:nvSpPr>
        <p:spPr>
          <a:xfrm>
            <a:off x="2514600" y="1005840"/>
            <a:ext cx="1965960" cy="457200"/>
          </a:xfrm>
          <a:prstGeom prst="rect">
            <a:avLst/>
          </a:prstGeom>
          <a:noFill/>
          <a:ln/>
        </p:spPr>
        <p:txBody>
          <a:bodyPr wrap="square" lIns="0" tIns="0" rIns="0" bIns="0" rtlCol="0" anchor="ctr"/>
          <a:lstStyle/>
          <a:p>
            <a:pPr marL="0" indent="0" algn="ctr">
              <a:buNone/>
            </a:pPr>
            <a:r>
              <a:rPr lang="en-US" sz="2200" b="1" dirty="0">
                <a:solidFill>
                  <a:srgbClr val="1ABC9C"/>
                </a:solidFill>
                <a:latin typeface="Calibri" pitchFamily="34" charset="0"/>
                <a:ea typeface="Calibri" pitchFamily="34" charset="-122"/>
                <a:cs typeface="Calibri" pitchFamily="34" charset="-120"/>
              </a:rPr>
              <a:t>FSM</a:t>
            </a:r>
            <a:endParaRPr lang="en-US" sz="2200" dirty="0"/>
          </a:p>
        </p:txBody>
      </p:sp>
      <p:sp>
        <p:nvSpPr>
          <p:cNvPr id="12" name="Text 10"/>
          <p:cNvSpPr/>
          <p:nvPr/>
        </p:nvSpPr>
        <p:spPr>
          <a:xfrm>
            <a:off x="2514600" y="1481328"/>
            <a:ext cx="1965960" cy="438912"/>
          </a:xfrm>
          <a:prstGeom prst="rect">
            <a:avLst/>
          </a:prstGeom>
          <a:noFill/>
          <a:ln/>
        </p:spPr>
        <p:txBody>
          <a:bodyPr wrap="square" lIns="0" tIns="0" rIns="0" bIns="0" rtlCol="0" anchor="ctr"/>
          <a:lstStyle/>
          <a:p>
            <a:pPr marL="0" indent="0" algn="ctr">
              <a:buNone/>
            </a:pPr>
            <a:r>
              <a:rPr lang="en-US" sz="1000" dirty="0">
                <a:solidFill>
                  <a:srgbClr val="BDC3C7"/>
                </a:solidFill>
                <a:latin typeface="Calibri" pitchFamily="34" charset="0"/>
                <a:ea typeface="Calibri" pitchFamily="34" charset="-122"/>
                <a:cs typeface="Calibri" pitchFamily="34" charset="-120"/>
              </a:rPr>
              <a:t>3-state protocol enforcement</a:t>
            </a:r>
            <a:endParaRPr lang="en-US" sz="1000" dirty="0"/>
          </a:p>
        </p:txBody>
      </p:sp>
      <p:sp>
        <p:nvSpPr>
          <p:cNvPr id="13" name="Shape 11"/>
          <p:cNvSpPr/>
          <p:nvPr/>
        </p:nvSpPr>
        <p:spPr>
          <a:xfrm>
            <a:off x="4663440" y="960120"/>
            <a:ext cx="1965960" cy="1005840"/>
          </a:xfrm>
          <a:prstGeom prst="rect">
            <a:avLst/>
          </a:prstGeom>
          <a:solidFill>
            <a:srgbClr val="2C3E50"/>
          </a:solidFill>
          <a:ln w="12700">
            <a:solidFill>
              <a:srgbClr val="F39C12"/>
            </a:solidFill>
            <a:prstDash val="solid"/>
          </a:ln>
        </p:spPr>
        <p:txBody>
          <a:bodyPr/>
          <a:lstStyle/>
          <a:p>
            <a:endParaRPr lang="en-CA"/>
          </a:p>
        </p:txBody>
      </p:sp>
      <p:sp>
        <p:nvSpPr>
          <p:cNvPr id="14" name="Text 12"/>
          <p:cNvSpPr/>
          <p:nvPr/>
        </p:nvSpPr>
        <p:spPr>
          <a:xfrm>
            <a:off x="4663440" y="1005840"/>
            <a:ext cx="1965960" cy="457200"/>
          </a:xfrm>
          <a:prstGeom prst="rect">
            <a:avLst/>
          </a:prstGeom>
          <a:noFill/>
          <a:ln/>
        </p:spPr>
        <p:txBody>
          <a:bodyPr wrap="square" lIns="0" tIns="0" rIns="0" bIns="0" rtlCol="0" anchor="ctr"/>
          <a:lstStyle/>
          <a:p>
            <a:pPr marL="0" indent="0" algn="ctr">
              <a:buNone/>
            </a:pPr>
            <a:r>
              <a:rPr lang="en-US" sz="2200" b="1" dirty="0">
                <a:solidFill>
                  <a:srgbClr val="F39C12"/>
                </a:solidFill>
                <a:latin typeface="Calibri" pitchFamily="34" charset="0"/>
                <a:ea typeface="Calibri" pitchFamily="34" charset="-122"/>
                <a:cs typeface="Calibri" pitchFamily="34" charset="-120"/>
              </a:rPr>
              <a:t>&gt;1 MB</a:t>
            </a:r>
            <a:endParaRPr lang="en-US" sz="2200" dirty="0"/>
          </a:p>
        </p:txBody>
      </p:sp>
      <p:sp>
        <p:nvSpPr>
          <p:cNvPr id="15" name="Text 13"/>
          <p:cNvSpPr/>
          <p:nvPr/>
        </p:nvSpPr>
        <p:spPr>
          <a:xfrm>
            <a:off x="4663440" y="1481328"/>
            <a:ext cx="1965960" cy="438912"/>
          </a:xfrm>
          <a:prstGeom prst="rect">
            <a:avLst/>
          </a:prstGeom>
          <a:noFill/>
          <a:ln/>
        </p:spPr>
        <p:txBody>
          <a:bodyPr wrap="square" lIns="0" tIns="0" rIns="0" bIns="0" rtlCol="0" anchor="ctr"/>
          <a:lstStyle/>
          <a:p>
            <a:pPr marL="0" indent="0" algn="ctr">
              <a:buNone/>
            </a:pPr>
            <a:r>
              <a:rPr lang="en-US" sz="1000" dirty="0">
                <a:solidFill>
                  <a:srgbClr val="BDC3C7"/>
                </a:solidFill>
                <a:latin typeface="Calibri" pitchFamily="34" charset="0"/>
                <a:ea typeface="Calibri" pitchFamily="34" charset="-122"/>
                <a:cs typeface="Calibri" pitchFamily="34" charset="-120"/>
              </a:rPr>
              <a:t>Chunked telemetry file transfer</a:t>
            </a:r>
            <a:endParaRPr lang="en-US" sz="1000" dirty="0"/>
          </a:p>
        </p:txBody>
      </p:sp>
      <p:sp>
        <p:nvSpPr>
          <p:cNvPr id="16" name="Shape 14"/>
          <p:cNvSpPr/>
          <p:nvPr/>
        </p:nvSpPr>
        <p:spPr>
          <a:xfrm>
            <a:off x="6812280" y="960120"/>
            <a:ext cx="1965960" cy="1005840"/>
          </a:xfrm>
          <a:prstGeom prst="rect">
            <a:avLst/>
          </a:prstGeom>
          <a:solidFill>
            <a:srgbClr val="2C3E50"/>
          </a:solidFill>
          <a:ln w="12700">
            <a:solidFill>
              <a:srgbClr val="27AE60"/>
            </a:solidFill>
            <a:prstDash val="solid"/>
          </a:ln>
        </p:spPr>
        <p:txBody>
          <a:bodyPr/>
          <a:lstStyle/>
          <a:p>
            <a:endParaRPr lang="en-CA"/>
          </a:p>
        </p:txBody>
      </p:sp>
      <p:sp>
        <p:nvSpPr>
          <p:cNvPr id="17" name="Text 15"/>
          <p:cNvSpPr/>
          <p:nvPr/>
        </p:nvSpPr>
        <p:spPr>
          <a:xfrm>
            <a:off x="6812280" y="1005840"/>
            <a:ext cx="1965960" cy="457200"/>
          </a:xfrm>
          <a:prstGeom prst="rect">
            <a:avLst/>
          </a:prstGeom>
          <a:noFill/>
          <a:ln/>
        </p:spPr>
        <p:txBody>
          <a:bodyPr wrap="square" lIns="0" tIns="0" rIns="0" bIns="0" rtlCol="0" anchor="ctr"/>
          <a:lstStyle/>
          <a:p>
            <a:pPr marL="0" indent="0" algn="ctr">
              <a:buNone/>
            </a:pPr>
            <a:r>
              <a:rPr lang="en-US" sz="2200" b="1" dirty="0">
                <a:solidFill>
                  <a:srgbClr val="27AE60"/>
                </a:solidFill>
                <a:latin typeface="Calibri" pitchFamily="34" charset="0"/>
                <a:ea typeface="Calibri" pitchFamily="34" charset="-122"/>
                <a:cs typeface="Calibri" pitchFamily="34" charset="-120"/>
              </a:rPr>
              <a:t>17 Tests</a:t>
            </a:r>
            <a:endParaRPr lang="en-US" sz="2200" dirty="0"/>
          </a:p>
        </p:txBody>
      </p:sp>
      <p:sp>
        <p:nvSpPr>
          <p:cNvPr id="18" name="Text 16"/>
          <p:cNvSpPr/>
          <p:nvPr/>
        </p:nvSpPr>
        <p:spPr>
          <a:xfrm>
            <a:off x="6812280" y="1481328"/>
            <a:ext cx="1965960" cy="438912"/>
          </a:xfrm>
          <a:prstGeom prst="rect">
            <a:avLst/>
          </a:prstGeom>
          <a:noFill/>
          <a:ln/>
        </p:spPr>
        <p:txBody>
          <a:bodyPr wrap="square" lIns="0" tIns="0" rIns="0" bIns="0" rtlCol="0" anchor="ctr"/>
          <a:lstStyle/>
          <a:p>
            <a:pPr marL="0" indent="0" algn="ctr">
              <a:buNone/>
            </a:pPr>
            <a:r>
              <a:rPr lang="en-US" sz="1000" dirty="0">
                <a:solidFill>
                  <a:srgbClr val="BDC3C7"/>
                </a:solidFill>
                <a:latin typeface="Calibri" pitchFamily="34" charset="0"/>
                <a:ea typeface="Calibri" pitchFamily="34" charset="-122"/>
                <a:cs typeface="Calibri" pitchFamily="34" charset="-120"/>
              </a:rPr>
              <a:t>10 unit + 7 integration — all pass</a:t>
            </a:r>
            <a:endParaRPr lang="en-US" sz="1000" dirty="0"/>
          </a:p>
        </p:txBody>
      </p:sp>
      <p:sp>
        <p:nvSpPr>
          <p:cNvPr id="19" name="Shape 17"/>
          <p:cNvSpPr/>
          <p:nvPr/>
        </p:nvSpPr>
        <p:spPr>
          <a:xfrm>
            <a:off x="320040" y="2158518"/>
            <a:ext cx="8503920" cy="1417320"/>
          </a:xfrm>
          <a:prstGeom prst="rect">
            <a:avLst/>
          </a:prstGeom>
          <a:solidFill>
            <a:srgbClr val="2C3E50"/>
          </a:solidFill>
          <a:ln w="12700">
            <a:solidFill>
              <a:srgbClr val="1B4F72"/>
            </a:solidFill>
            <a:prstDash val="solid"/>
          </a:ln>
        </p:spPr>
        <p:txBody>
          <a:bodyPr/>
          <a:lstStyle/>
          <a:p>
            <a:endParaRPr lang="en-CA"/>
          </a:p>
        </p:txBody>
      </p:sp>
      <p:sp>
        <p:nvSpPr>
          <p:cNvPr id="20" name="Text 18"/>
          <p:cNvSpPr/>
          <p:nvPr/>
        </p:nvSpPr>
        <p:spPr>
          <a:xfrm>
            <a:off x="457200" y="2340864"/>
            <a:ext cx="8229600" cy="1298448"/>
          </a:xfrm>
          <a:prstGeom prst="rect">
            <a:avLst/>
          </a:prstGeom>
          <a:noFill/>
          <a:ln/>
        </p:spPr>
        <p:txBody>
          <a:bodyPr wrap="square" rtlCol="0" anchor="t"/>
          <a:lstStyle/>
          <a:p>
            <a:pPr marL="342900" indent="-342900">
              <a:spcAft>
                <a:spcPts val="300"/>
              </a:spcAft>
              <a:buSzPct val="100000"/>
              <a:buChar char="•"/>
            </a:pPr>
            <a:r>
              <a:rPr lang="en-US" sz="1300" dirty="0">
                <a:solidFill>
                  <a:srgbClr val="ECF0F1"/>
                </a:solidFill>
                <a:latin typeface="Calibri" pitchFamily="34" charset="0"/>
                <a:ea typeface="Calibri" pitchFamily="34" charset="-122"/>
                <a:cs typeface="Calibri" pitchFamily="34" charset="-120"/>
              </a:rPr>
              <a:t>Successfully implemented a functional TCP/IP client-server simulation of an aircraft ground station</a:t>
            </a:r>
            <a:endParaRPr lang="en-US" sz="1300" dirty="0"/>
          </a:p>
          <a:p>
            <a:pPr marL="342900" indent="-342900">
              <a:spcAft>
                <a:spcPts val="300"/>
              </a:spcAft>
              <a:buSzPct val="100000"/>
              <a:buChar char="•"/>
            </a:pPr>
            <a:r>
              <a:rPr lang="en-US" sz="1300" dirty="0">
                <a:solidFill>
                  <a:srgbClr val="ECF0F1"/>
                </a:solidFill>
                <a:latin typeface="Calibri" pitchFamily="34" charset="0"/>
                <a:ea typeface="Calibri" pitchFamily="34" charset="-122"/>
                <a:cs typeface="Calibri" pitchFamily="34" charset="-120"/>
              </a:rPr>
              <a:t>State machine enforced protocol integrity — invalid commands correctly rejected at every state</a:t>
            </a:r>
            <a:endParaRPr lang="en-US" sz="1300" dirty="0"/>
          </a:p>
          <a:p>
            <a:pPr marL="342900" indent="-342900">
              <a:spcAft>
                <a:spcPts val="300"/>
              </a:spcAft>
              <a:buSzPct val="100000"/>
              <a:buChar char="•"/>
            </a:pPr>
            <a:r>
              <a:rPr lang="en-US" sz="1300" dirty="0">
                <a:solidFill>
                  <a:srgbClr val="ECF0F1"/>
                </a:solidFill>
                <a:latin typeface="Calibri" pitchFamily="34" charset="0"/>
                <a:ea typeface="Calibri" pitchFamily="34" charset="-122"/>
                <a:cs typeface="Calibri" pitchFamily="34" charset="-120"/>
              </a:rPr>
              <a:t>Binary packet protocol with structured fields supports extensibility for future command types</a:t>
            </a:r>
            <a:endParaRPr lang="en-US" sz="1300" dirty="0"/>
          </a:p>
          <a:p>
            <a:pPr marL="342900" indent="-342900">
              <a:spcAft>
                <a:spcPts val="300"/>
              </a:spcAft>
              <a:buSzPct val="100000"/>
              <a:buChar char="•"/>
            </a:pPr>
            <a:r>
              <a:rPr lang="en-US" sz="1300" dirty="0">
                <a:solidFill>
                  <a:srgbClr val="ECF0F1"/>
                </a:solidFill>
                <a:latin typeface="Calibri" pitchFamily="34" charset="0"/>
                <a:ea typeface="Calibri" pitchFamily="34" charset="-122"/>
                <a:cs typeface="Calibri" pitchFamily="34" charset="-120"/>
              </a:rPr>
              <a:t>Robust large data transfer (&gt;1 MB) demonstrates real-world socket I/O competency</a:t>
            </a:r>
            <a:endParaRPr lang="en-US" sz="1300" dirty="0"/>
          </a:p>
        </p:txBody>
      </p:sp>
      <p:sp>
        <p:nvSpPr>
          <p:cNvPr id="23" name="Shape 21"/>
          <p:cNvSpPr/>
          <p:nvPr/>
        </p:nvSpPr>
        <p:spPr>
          <a:xfrm>
            <a:off x="0" y="4160520"/>
            <a:ext cx="9144000" cy="982980"/>
          </a:xfrm>
          <a:prstGeom prst="rect">
            <a:avLst/>
          </a:prstGeom>
          <a:solidFill>
            <a:srgbClr val="2C3E50"/>
          </a:solidFill>
          <a:ln w="12700">
            <a:solidFill>
              <a:srgbClr val="2C3E50"/>
            </a:solidFill>
            <a:prstDash val="solid"/>
          </a:ln>
        </p:spPr>
        <p:txBody>
          <a:bodyPr/>
          <a:lstStyle/>
          <a:p>
            <a:endParaRPr lang="en-CA"/>
          </a:p>
        </p:txBody>
      </p:sp>
      <p:sp>
        <p:nvSpPr>
          <p:cNvPr id="24" name="Text 22"/>
          <p:cNvSpPr/>
          <p:nvPr/>
        </p:nvSpPr>
        <p:spPr>
          <a:xfrm>
            <a:off x="0" y="4160520"/>
            <a:ext cx="9144000" cy="982980"/>
          </a:xfrm>
          <a:prstGeom prst="rect">
            <a:avLst/>
          </a:prstGeom>
          <a:noFill/>
          <a:ln/>
        </p:spPr>
        <p:txBody>
          <a:bodyPr wrap="square" lIns="0" tIns="0" rIns="0" bIns="0" rtlCol="0" anchor="ctr"/>
          <a:lstStyle/>
          <a:p>
            <a:pPr marL="0" indent="0" algn="ctr">
              <a:buNone/>
            </a:pPr>
            <a:endParaRPr lang="en-US" sz="2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a:extLst>
            <a:ext uri="{FF2B5EF4-FFF2-40B4-BE49-F238E27FC236}">
              <a16:creationId xmlns:a16="http://schemas.microsoft.com/office/drawing/2014/main" id="{68E86CA3-0DDA-BBCB-5A1D-1FAAB80706F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AA50B39-7EF2-0F6C-7298-EA1AFFF1DC3C}"/>
              </a:ext>
            </a:extLst>
          </p:cNvPr>
          <p:cNvSpPr/>
          <p:nvPr/>
        </p:nvSpPr>
        <p:spPr>
          <a:xfrm>
            <a:off x="0" y="0"/>
            <a:ext cx="9144000" cy="109728"/>
          </a:xfrm>
          <a:prstGeom prst="rect">
            <a:avLst/>
          </a:prstGeom>
          <a:solidFill>
            <a:srgbClr val="3498DB"/>
          </a:solidFill>
          <a:ln w="12700">
            <a:solidFill>
              <a:srgbClr val="3498DB"/>
            </a:solidFill>
            <a:prstDash val="solid"/>
          </a:ln>
        </p:spPr>
        <p:txBody>
          <a:bodyPr/>
          <a:lstStyle/>
          <a:p>
            <a:endParaRPr lang="en-CA"/>
          </a:p>
        </p:txBody>
      </p:sp>
      <p:sp>
        <p:nvSpPr>
          <p:cNvPr id="3" name="Shape 1">
            <a:extLst>
              <a:ext uri="{FF2B5EF4-FFF2-40B4-BE49-F238E27FC236}">
                <a16:creationId xmlns:a16="http://schemas.microsoft.com/office/drawing/2014/main" id="{B647D89C-E996-39CE-78B4-A9F51BB74527}"/>
              </a:ext>
            </a:extLst>
          </p:cNvPr>
          <p:cNvSpPr/>
          <p:nvPr/>
        </p:nvSpPr>
        <p:spPr>
          <a:xfrm>
            <a:off x="5943600" y="-731520"/>
            <a:ext cx="4114800" cy="4114800"/>
          </a:xfrm>
          <a:prstGeom prst="ellipse">
            <a:avLst/>
          </a:prstGeom>
          <a:solidFill>
            <a:srgbClr val="1B4F72">
              <a:alpha val="20000"/>
            </a:srgbClr>
          </a:solidFill>
          <a:ln w="12700">
            <a:solidFill>
              <a:srgbClr val="1B4F72">
                <a:alpha val="20000"/>
              </a:srgbClr>
            </a:solidFill>
            <a:prstDash val="solid"/>
          </a:ln>
        </p:spPr>
        <p:txBody>
          <a:bodyPr/>
          <a:lstStyle/>
          <a:p>
            <a:endParaRPr lang="en-CA"/>
          </a:p>
        </p:txBody>
      </p:sp>
      <p:sp>
        <p:nvSpPr>
          <p:cNvPr id="4" name="Shape 2">
            <a:extLst>
              <a:ext uri="{FF2B5EF4-FFF2-40B4-BE49-F238E27FC236}">
                <a16:creationId xmlns:a16="http://schemas.microsoft.com/office/drawing/2014/main" id="{0894A1AB-3AAC-2029-310D-9F3C01E4E6D2}"/>
              </a:ext>
            </a:extLst>
          </p:cNvPr>
          <p:cNvSpPr/>
          <p:nvPr/>
        </p:nvSpPr>
        <p:spPr>
          <a:xfrm>
            <a:off x="-731520" y="2743200"/>
            <a:ext cx="3200400" cy="3200400"/>
          </a:xfrm>
          <a:prstGeom prst="ellipse">
            <a:avLst/>
          </a:prstGeom>
          <a:solidFill>
            <a:srgbClr val="1ABC9C">
              <a:alpha val="15000"/>
            </a:srgbClr>
          </a:solidFill>
          <a:ln w="12700">
            <a:solidFill>
              <a:srgbClr val="1ABC9C">
                <a:alpha val="15000"/>
              </a:srgbClr>
            </a:solidFill>
            <a:prstDash val="solid"/>
          </a:ln>
        </p:spPr>
        <p:txBody>
          <a:bodyPr/>
          <a:lstStyle/>
          <a:p>
            <a:endParaRPr lang="en-CA"/>
          </a:p>
        </p:txBody>
      </p:sp>
      <p:sp>
        <p:nvSpPr>
          <p:cNvPr id="5" name="Text 3">
            <a:extLst>
              <a:ext uri="{FF2B5EF4-FFF2-40B4-BE49-F238E27FC236}">
                <a16:creationId xmlns:a16="http://schemas.microsoft.com/office/drawing/2014/main" id="{2C345E67-7D65-E6A0-D5BA-4019CF2FA569}"/>
              </a:ext>
            </a:extLst>
          </p:cNvPr>
          <p:cNvSpPr/>
          <p:nvPr/>
        </p:nvSpPr>
        <p:spPr>
          <a:xfrm>
            <a:off x="457200" y="228600"/>
            <a:ext cx="8229600" cy="502920"/>
          </a:xfrm>
          <a:prstGeom prst="rect">
            <a:avLst/>
          </a:prstGeom>
          <a:noFill/>
          <a:ln/>
        </p:spPr>
        <p:txBody>
          <a:bodyPr wrap="square" lIns="0" tIns="0" rIns="0" bIns="0" rtlCol="0" anchor="ctr"/>
          <a:lstStyle/>
          <a:p>
            <a:pPr marL="0" indent="0">
              <a:buNone/>
            </a:pPr>
            <a:endParaRPr lang="en-US" sz="2800" dirty="0"/>
          </a:p>
        </p:txBody>
      </p:sp>
      <p:sp>
        <p:nvSpPr>
          <p:cNvPr id="8" name="Text 6">
            <a:extLst>
              <a:ext uri="{FF2B5EF4-FFF2-40B4-BE49-F238E27FC236}">
                <a16:creationId xmlns:a16="http://schemas.microsoft.com/office/drawing/2014/main" id="{68D8C34D-6649-A84D-CCA8-2B0D47ACA0CF}"/>
              </a:ext>
            </a:extLst>
          </p:cNvPr>
          <p:cNvSpPr/>
          <p:nvPr/>
        </p:nvSpPr>
        <p:spPr>
          <a:xfrm>
            <a:off x="365760" y="1005840"/>
            <a:ext cx="1965960" cy="457200"/>
          </a:xfrm>
          <a:prstGeom prst="rect">
            <a:avLst/>
          </a:prstGeom>
          <a:noFill/>
          <a:ln/>
        </p:spPr>
        <p:txBody>
          <a:bodyPr wrap="square" lIns="0" tIns="0" rIns="0" bIns="0" rtlCol="0" anchor="ctr"/>
          <a:lstStyle/>
          <a:p>
            <a:pPr marL="0" indent="0" algn="ctr">
              <a:buNone/>
            </a:pPr>
            <a:endParaRPr lang="en-US" sz="2200" dirty="0"/>
          </a:p>
        </p:txBody>
      </p:sp>
      <p:sp>
        <p:nvSpPr>
          <p:cNvPr id="9" name="Text 7">
            <a:extLst>
              <a:ext uri="{FF2B5EF4-FFF2-40B4-BE49-F238E27FC236}">
                <a16:creationId xmlns:a16="http://schemas.microsoft.com/office/drawing/2014/main" id="{DD5F86D0-1F82-91BF-94C6-D25DB73AB921}"/>
              </a:ext>
            </a:extLst>
          </p:cNvPr>
          <p:cNvSpPr/>
          <p:nvPr/>
        </p:nvSpPr>
        <p:spPr>
          <a:xfrm>
            <a:off x="365760" y="1481328"/>
            <a:ext cx="1965960" cy="438912"/>
          </a:xfrm>
          <a:prstGeom prst="rect">
            <a:avLst/>
          </a:prstGeom>
          <a:noFill/>
          <a:ln/>
        </p:spPr>
        <p:txBody>
          <a:bodyPr wrap="square" lIns="0" tIns="0" rIns="0" bIns="0" rtlCol="0" anchor="ctr"/>
          <a:lstStyle/>
          <a:p>
            <a:pPr marL="0" indent="0" algn="ctr">
              <a:buNone/>
            </a:pPr>
            <a:endParaRPr lang="en-US" sz="1000" dirty="0"/>
          </a:p>
        </p:txBody>
      </p:sp>
      <p:sp>
        <p:nvSpPr>
          <p:cNvPr id="11" name="Text 9">
            <a:extLst>
              <a:ext uri="{FF2B5EF4-FFF2-40B4-BE49-F238E27FC236}">
                <a16:creationId xmlns:a16="http://schemas.microsoft.com/office/drawing/2014/main" id="{697CB2B5-1AAF-83D4-DFAB-959C0395CBF1}"/>
              </a:ext>
            </a:extLst>
          </p:cNvPr>
          <p:cNvSpPr/>
          <p:nvPr/>
        </p:nvSpPr>
        <p:spPr>
          <a:xfrm>
            <a:off x="2514600" y="1005840"/>
            <a:ext cx="1965960" cy="457200"/>
          </a:xfrm>
          <a:prstGeom prst="rect">
            <a:avLst/>
          </a:prstGeom>
          <a:noFill/>
          <a:ln/>
        </p:spPr>
        <p:txBody>
          <a:bodyPr wrap="square" lIns="0" tIns="0" rIns="0" bIns="0" rtlCol="0" anchor="ctr"/>
          <a:lstStyle/>
          <a:p>
            <a:pPr marL="0" indent="0" algn="ctr">
              <a:buNone/>
            </a:pPr>
            <a:endParaRPr lang="en-US" sz="2200" dirty="0"/>
          </a:p>
        </p:txBody>
      </p:sp>
      <p:sp>
        <p:nvSpPr>
          <p:cNvPr id="12" name="Text 10">
            <a:extLst>
              <a:ext uri="{FF2B5EF4-FFF2-40B4-BE49-F238E27FC236}">
                <a16:creationId xmlns:a16="http://schemas.microsoft.com/office/drawing/2014/main" id="{822E5F9C-AF93-80EF-B87C-E2A9D0243293}"/>
              </a:ext>
            </a:extLst>
          </p:cNvPr>
          <p:cNvSpPr/>
          <p:nvPr/>
        </p:nvSpPr>
        <p:spPr>
          <a:xfrm>
            <a:off x="2514600" y="1481328"/>
            <a:ext cx="1965960" cy="438912"/>
          </a:xfrm>
          <a:prstGeom prst="rect">
            <a:avLst/>
          </a:prstGeom>
          <a:noFill/>
          <a:ln/>
        </p:spPr>
        <p:txBody>
          <a:bodyPr wrap="square" lIns="0" tIns="0" rIns="0" bIns="0" rtlCol="0" anchor="ctr"/>
          <a:lstStyle/>
          <a:p>
            <a:pPr marL="0" indent="0" algn="ctr">
              <a:buNone/>
            </a:pPr>
            <a:endParaRPr lang="en-US" sz="1000" dirty="0"/>
          </a:p>
        </p:txBody>
      </p:sp>
      <p:sp>
        <p:nvSpPr>
          <p:cNvPr id="14" name="Text 12">
            <a:extLst>
              <a:ext uri="{FF2B5EF4-FFF2-40B4-BE49-F238E27FC236}">
                <a16:creationId xmlns:a16="http://schemas.microsoft.com/office/drawing/2014/main" id="{7D69E25C-4B3D-9FDF-E2B9-9CEF5ACD87D7}"/>
              </a:ext>
            </a:extLst>
          </p:cNvPr>
          <p:cNvSpPr/>
          <p:nvPr/>
        </p:nvSpPr>
        <p:spPr>
          <a:xfrm>
            <a:off x="4663440" y="1005840"/>
            <a:ext cx="1965960" cy="457200"/>
          </a:xfrm>
          <a:prstGeom prst="rect">
            <a:avLst/>
          </a:prstGeom>
          <a:noFill/>
          <a:ln/>
        </p:spPr>
        <p:txBody>
          <a:bodyPr wrap="square" lIns="0" tIns="0" rIns="0" bIns="0" rtlCol="0" anchor="ctr"/>
          <a:lstStyle/>
          <a:p>
            <a:pPr marL="0" indent="0" algn="ctr">
              <a:buNone/>
            </a:pPr>
            <a:endParaRPr lang="en-US" sz="2200" dirty="0"/>
          </a:p>
        </p:txBody>
      </p:sp>
      <p:sp>
        <p:nvSpPr>
          <p:cNvPr id="15" name="Text 13">
            <a:extLst>
              <a:ext uri="{FF2B5EF4-FFF2-40B4-BE49-F238E27FC236}">
                <a16:creationId xmlns:a16="http://schemas.microsoft.com/office/drawing/2014/main" id="{A773D938-1DD5-B3DE-1A0B-BB9A9EDC892B}"/>
              </a:ext>
            </a:extLst>
          </p:cNvPr>
          <p:cNvSpPr/>
          <p:nvPr/>
        </p:nvSpPr>
        <p:spPr>
          <a:xfrm>
            <a:off x="4663440" y="1481328"/>
            <a:ext cx="1965960" cy="438912"/>
          </a:xfrm>
          <a:prstGeom prst="rect">
            <a:avLst/>
          </a:prstGeom>
          <a:noFill/>
          <a:ln/>
        </p:spPr>
        <p:txBody>
          <a:bodyPr wrap="square" lIns="0" tIns="0" rIns="0" bIns="0" rtlCol="0" anchor="ctr"/>
          <a:lstStyle/>
          <a:p>
            <a:pPr marL="0" indent="0" algn="ctr">
              <a:buNone/>
            </a:pPr>
            <a:endParaRPr lang="en-US" sz="1000" dirty="0"/>
          </a:p>
        </p:txBody>
      </p:sp>
      <p:sp>
        <p:nvSpPr>
          <p:cNvPr id="17" name="Text 15">
            <a:extLst>
              <a:ext uri="{FF2B5EF4-FFF2-40B4-BE49-F238E27FC236}">
                <a16:creationId xmlns:a16="http://schemas.microsoft.com/office/drawing/2014/main" id="{EC847D93-A19C-A36B-B6BF-5C97E4B7892E}"/>
              </a:ext>
            </a:extLst>
          </p:cNvPr>
          <p:cNvSpPr/>
          <p:nvPr/>
        </p:nvSpPr>
        <p:spPr>
          <a:xfrm>
            <a:off x="6812280" y="1005840"/>
            <a:ext cx="1965960" cy="457200"/>
          </a:xfrm>
          <a:prstGeom prst="rect">
            <a:avLst/>
          </a:prstGeom>
          <a:noFill/>
          <a:ln/>
        </p:spPr>
        <p:txBody>
          <a:bodyPr wrap="square" lIns="0" tIns="0" rIns="0" bIns="0" rtlCol="0" anchor="ctr"/>
          <a:lstStyle/>
          <a:p>
            <a:pPr marL="0" indent="0" algn="ctr">
              <a:buNone/>
            </a:pPr>
            <a:endParaRPr lang="en-US" sz="2200" dirty="0"/>
          </a:p>
        </p:txBody>
      </p:sp>
      <p:sp>
        <p:nvSpPr>
          <p:cNvPr id="18" name="Text 16">
            <a:extLst>
              <a:ext uri="{FF2B5EF4-FFF2-40B4-BE49-F238E27FC236}">
                <a16:creationId xmlns:a16="http://schemas.microsoft.com/office/drawing/2014/main" id="{2EE95650-19CD-E074-5245-D908A81153DF}"/>
              </a:ext>
            </a:extLst>
          </p:cNvPr>
          <p:cNvSpPr/>
          <p:nvPr/>
        </p:nvSpPr>
        <p:spPr>
          <a:xfrm>
            <a:off x="6812280" y="1481328"/>
            <a:ext cx="1965960" cy="438912"/>
          </a:xfrm>
          <a:prstGeom prst="rect">
            <a:avLst/>
          </a:prstGeom>
          <a:noFill/>
          <a:ln/>
        </p:spPr>
        <p:txBody>
          <a:bodyPr wrap="square" lIns="0" tIns="0" rIns="0" bIns="0" rtlCol="0" anchor="ctr"/>
          <a:lstStyle/>
          <a:p>
            <a:pPr marL="0" indent="0" algn="ctr">
              <a:buNone/>
            </a:pPr>
            <a:endParaRPr lang="en-US" sz="1000" dirty="0"/>
          </a:p>
        </p:txBody>
      </p:sp>
      <p:sp>
        <p:nvSpPr>
          <p:cNvPr id="20" name="Text 18">
            <a:extLst>
              <a:ext uri="{FF2B5EF4-FFF2-40B4-BE49-F238E27FC236}">
                <a16:creationId xmlns:a16="http://schemas.microsoft.com/office/drawing/2014/main" id="{E8B7398B-2D95-C962-A25C-83CA34FCB1D1}"/>
              </a:ext>
            </a:extLst>
          </p:cNvPr>
          <p:cNvSpPr/>
          <p:nvPr/>
        </p:nvSpPr>
        <p:spPr>
          <a:xfrm>
            <a:off x="457200" y="2340864"/>
            <a:ext cx="8229600" cy="1298448"/>
          </a:xfrm>
          <a:prstGeom prst="rect">
            <a:avLst/>
          </a:prstGeom>
          <a:noFill/>
          <a:ln/>
        </p:spPr>
        <p:txBody>
          <a:bodyPr wrap="square" rtlCol="0" anchor="t"/>
          <a:lstStyle/>
          <a:p>
            <a:pPr marL="342900" indent="-342900">
              <a:spcAft>
                <a:spcPts val="300"/>
              </a:spcAft>
              <a:buSzPct val="100000"/>
              <a:buChar char="•"/>
            </a:pPr>
            <a:endParaRPr lang="en-US" sz="1300" dirty="0"/>
          </a:p>
        </p:txBody>
      </p:sp>
      <p:sp>
        <p:nvSpPr>
          <p:cNvPr id="23" name="Shape 21">
            <a:extLst>
              <a:ext uri="{FF2B5EF4-FFF2-40B4-BE49-F238E27FC236}">
                <a16:creationId xmlns:a16="http://schemas.microsoft.com/office/drawing/2014/main" id="{66F71306-3C3B-14F2-6F7E-17B633115224}"/>
              </a:ext>
            </a:extLst>
          </p:cNvPr>
          <p:cNvSpPr/>
          <p:nvPr/>
        </p:nvSpPr>
        <p:spPr>
          <a:xfrm>
            <a:off x="0" y="4160520"/>
            <a:ext cx="9144000" cy="982980"/>
          </a:xfrm>
          <a:prstGeom prst="rect">
            <a:avLst/>
          </a:prstGeom>
          <a:solidFill>
            <a:srgbClr val="2C3E50"/>
          </a:solidFill>
          <a:ln w="12700">
            <a:solidFill>
              <a:srgbClr val="2C3E50"/>
            </a:solidFill>
            <a:prstDash val="solid"/>
          </a:ln>
        </p:spPr>
        <p:txBody>
          <a:bodyPr/>
          <a:lstStyle/>
          <a:p>
            <a:endParaRPr lang="en-CA"/>
          </a:p>
        </p:txBody>
      </p:sp>
      <p:sp>
        <p:nvSpPr>
          <p:cNvPr id="24" name="Text 22">
            <a:extLst>
              <a:ext uri="{FF2B5EF4-FFF2-40B4-BE49-F238E27FC236}">
                <a16:creationId xmlns:a16="http://schemas.microsoft.com/office/drawing/2014/main" id="{9B48F332-D12F-1418-9325-D1DFC6D074F7}"/>
              </a:ext>
            </a:extLst>
          </p:cNvPr>
          <p:cNvSpPr/>
          <p:nvPr/>
        </p:nvSpPr>
        <p:spPr>
          <a:xfrm>
            <a:off x="0" y="4160520"/>
            <a:ext cx="9144000" cy="982980"/>
          </a:xfrm>
          <a:prstGeom prst="rect">
            <a:avLst/>
          </a:prstGeom>
          <a:noFill/>
          <a:ln/>
        </p:spPr>
        <p:txBody>
          <a:bodyPr wrap="square" lIns="0" tIns="0" rIns="0" bIns="0" rtlCol="0" anchor="ctr"/>
          <a:lstStyle/>
          <a:p>
            <a:pPr marL="0" indent="0" algn="ctr">
              <a:buNone/>
            </a:pPr>
            <a:endParaRPr lang="en-US" sz="2200" dirty="0"/>
          </a:p>
        </p:txBody>
      </p:sp>
      <p:sp>
        <p:nvSpPr>
          <p:cNvPr id="21" name="TextBox 20">
            <a:extLst>
              <a:ext uri="{FF2B5EF4-FFF2-40B4-BE49-F238E27FC236}">
                <a16:creationId xmlns:a16="http://schemas.microsoft.com/office/drawing/2014/main" id="{F463309C-A623-5EAD-0665-3CD4DBAD256E}"/>
              </a:ext>
            </a:extLst>
          </p:cNvPr>
          <p:cNvSpPr txBox="1"/>
          <p:nvPr/>
        </p:nvSpPr>
        <p:spPr>
          <a:xfrm>
            <a:off x="3688559" y="1845883"/>
            <a:ext cx="2342127" cy="523220"/>
          </a:xfrm>
          <a:prstGeom prst="rect">
            <a:avLst/>
          </a:prstGeom>
          <a:noFill/>
        </p:spPr>
        <p:txBody>
          <a:bodyPr wrap="square" rtlCol="0">
            <a:spAutoFit/>
          </a:bodyPr>
          <a:lstStyle/>
          <a:p>
            <a:r>
              <a:rPr lang="en-CA" sz="2800" dirty="0">
                <a:solidFill>
                  <a:schemeClr val="bg1"/>
                </a:solidFill>
              </a:rPr>
              <a:t>Thank You \o/</a:t>
            </a:r>
          </a:p>
        </p:txBody>
      </p:sp>
    </p:spTree>
    <p:extLst>
      <p:ext uri="{BB962C8B-B14F-4D97-AF65-F5344CB8AC3E}">
        <p14:creationId xmlns:p14="http://schemas.microsoft.com/office/powerpoint/2010/main" val="29491996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90</TotalTime>
  <Words>1963</Words>
  <Application>Microsoft Office PowerPoint</Application>
  <PresentationFormat>On-screen Show (16:9)</PresentationFormat>
  <Paragraphs>202</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Client-Server Communication System</dc:title>
  <dc:subject>PptxGenJS Presentation</dc:subject>
  <dc:creator>Software Engineering Project</dc:creator>
  <cp:lastModifiedBy>Henil Patel</cp:lastModifiedBy>
  <cp:revision>5</cp:revision>
  <dcterms:created xsi:type="dcterms:W3CDTF">2026-04-14T18:33:37Z</dcterms:created>
  <dcterms:modified xsi:type="dcterms:W3CDTF">2026-04-16T02:30:08Z</dcterms:modified>
</cp:coreProperties>
</file>